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32"/>
  </p:notesMasterIdLst>
  <p:sldIdLst>
    <p:sldId id="256" r:id="rId2"/>
    <p:sldId id="260" r:id="rId3"/>
    <p:sldId id="261" r:id="rId4"/>
    <p:sldId id="262" r:id="rId5"/>
    <p:sldId id="258" r:id="rId6"/>
    <p:sldId id="257" r:id="rId7"/>
    <p:sldId id="259" r:id="rId8"/>
    <p:sldId id="267" r:id="rId9"/>
    <p:sldId id="274" r:id="rId10"/>
    <p:sldId id="263" r:id="rId11"/>
    <p:sldId id="266" r:id="rId12"/>
    <p:sldId id="265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7" r:id="rId21"/>
    <p:sldId id="275" r:id="rId22"/>
    <p:sldId id="278" r:id="rId23"/>
    <p:sldId id="279" r:id="rId24"/>
    <p:sldId id="280" r:id="rId25"/>
    <p:sldId id="281" r:id="rId26"/>
    <p:sldId id="286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AE6E"/>
    <a:srgbClr val="636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3"/>
    <p:restoredTop sz="76064"/>
  </p:normalViewPr>
  <p:slideViewPr>
    <p:cSldViewPr snapToGrid="0">
      <p:cViewPr>
        <p:scale>
          <a:sx n="81" d="100"/>
          <a:sy n="81" d="100"/>
        </p:scale>
        <p:origin x="18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85FD67-B9AB-BD40-ABA2-5D3B091B565B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0484A-7C6E-CA49-8DC3-0E808C380D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624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6404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理论上矛盾性低、确定性高应带来更高稳定性，但实证支持不一，提示可能存在调节变量（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moderator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）。为此，作者提出矛盾性与确定性会交互影响稳定性：客观矛盾性（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objective ambivalence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）反映正负评价并存的结构，确定性是对自身态度的元认知（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meta-cognitive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）确信感（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sense of validity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）；确定性会放大当前激活评价的影响力，因此在矛盾性高时，高确定性反而放大评价波动，导致更不稳定，而在矛盾性低时，高确定性则巩固一致评价，增强稳定性。研究还区分客观与主观矛盾性（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subjective ambivalence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），并将态度极端性（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extremity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）作为协变量（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covariate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），最终通过多项纵向研究（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longitudinal study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）检验这一交互作用（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interaction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）。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7049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根据论文，三个实验的流程简述如下：</a:t>
            </a:r>
          </a:p>
          <a:p>
            <a:endParaRPr kumimoji="1" lang="zh-CN" altLang="en-US" dirty="0"/>
          </a:p>
          <a:p>
            <a:r>
              <a:rPr kumimoji="1" lang="en-US" altLang="zh-CN" dirty="0"/>
              <a:t>---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### **</a:t>
            </a:r>
            <a:r>
              <a:rPr kumimoji="1" lang="zh-CN" altLang="en-US" dirty="0"/>
              <a:t>实验</a:t>
            </a:r>
            <a:r>
              <a:rPr kumimoji="1" lang="en-US" altLang="zh-CN" dirty="0"/>
              <a:t>1</a:t>
            </a:r>
            <a:r>
              <a:rPr kumimoji="1" lang="zh-CN" altLang="en-US" dirty="0"/>
              <a:t>（有机食品）**</a:t>
            </a:r>
          </a:p>
          <a:p>
            <a:r>
              <a:rPr kumimoji="1" lang="en-US" altLang="zh-CN" dirty="0"/>
              <a:t>- **</a:t>
            </a:r>
            <a:r>
              <a:rPr kumimoji="1" lang="zh-CN" altLang="en-US" dirty="0"/>
              <a:t>时间间隔**：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个月</a:t>
            </a:r>
          </a:p>
          <a:p>
            <a:r>
              <a:rPr kumimoji="1" lang="en-US" altLang="zh-CN" dirty="0"/>
              <a:t>- **</a:t>
            </a:r>
            <a:r>
              <a:rPr kumimoji="1" lang="zh-CN" altLang="en-US" dirty="0"/>
              <a:t>流程**：</a:t>
            </a:r>
          </a:p>
          <a:p>
            <a:r>
              <a:rPr kumimoji="1" lang="zh-CN" altLang="en-US" dirty="0"/>
              <a:t>  </a:t>
            </a:r>
            <a:r>
              <a:rPr kumimoji="1" lang="en-US" altLang="zh-CN" dirty="0"/>
              <a:t>1. </a:t>
            </a:r>
            <a:r>
              <a:rPr kumimoji="1" lang="zh-CN" altLang="en-US" dirty="0"/>
              <a:t>时间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：大学生在线填写问卷，测量对有机食品的态度（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个语义差异项）、态度确定性（</a:t>
            </a:r>
            <a:r>
              <a:rPr kumimoji="1" lang="en-US" altLang="zh-CN" dirty="0"/>
              <a:t>7</a:t>
            </a:r>
            <a:r>
              <a:rPr kumimoji="1" lang="zh-CN" altLang="en-US" dirty="0"/>
              <a:t>项量表）、客观与主观矛盾性。</a:t>
            </a:r>
          </a:p>
          <a:p>
            <a:r>
              <a:rPr kumimoji="1" lang="zh-CN" altLang="en-US" dirty="0"/>
              <a:t>  </a:t>
            </a:r>
            <a:r>
              <a:rPr kumimoji="1" lang="en-US" altLang="zh-CN" dirty="0"/>
              <a:t>2. </a:t>
            </a:r>
            <a:r>
              <a:rPr kumimoji="1" lang="zh-CN" altLang="en-US" dirty="0"/>
              <a:t>时间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个月后再次测量对有机食品的态度。</a:t>
            </a:r>
          </a:p>
          <a:p>
            <a:r>
              <a:rPr kumimoji="1" lang="en-US" altLang="zh-CN" dirty="0"/>
              <a:t>- **</a:t>
            </a:r>
            <a:r>
              <a:rPr kumimoji="1" lang="zh-CN" altLang="en-US" dirty="0"/>
              <a:t>因变量**：时间</a:t>
            </a:r>
            <a:r>
              <a:rPr kumimoji="1" lang="en-US" altLang="zh-CN" dirty="0"/>
              <a:t>1</a:t>
            </a:r>
            <a:r>
              <a:rPr kumimoji="1" lang="zh-CN" altLang="en-US" dirty="0"/>
              <a:t>与时间</a:t>
            </a:r>
            <a:r>
              <a:rPr kumimoji="1" lang="en-US" altLang="zh-CN" dirty="0"/>
              <a:t>2</a:t>
            </a:r>
            <a:r>
              <a:rPr kumimoji="1" lang="zh-CN" altLang="en-US" dirty="0"/>
              <a:t>态度得分的绝对差值（稳定性）。</a:t>
            </a:r>
          </a:p>
          <a:p>
            <a:endParaRPr kumimoji="1" lang="zh-CN" altLang="en-US" dirty="0"/>
          </a:p>
          <a:p>
            <a:r>
              <a:rPr kumimoji="1" lang="en-US" altLang="zh-CN" dirty="0"/>
              <a:t>---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### **</a:t>
            </a:r>
            <a:r>
              <a:rPr kumimoji="1" lang="zh-CN" altLang="en-US" dirty="0"/>
              <a:t>实验</a:t>
            </a:r>
            <a:r>
              <a:rPr kumimoji="1" lang="en-US" altLang="zh-CN" dirty="0"/>
              <a:t>2</a:t>
            </a:r>
            <a:r>
              <a:rPr kumimoji="1" lang="zh-CN" altLang="en-US" dirty="0"/>
              <a:t>（酒精）**</a:t>
            </a:r>
          </a:p>
          <a:p>
            <a:r>
              <a:rPr kumimoji="1" lang="en-US" altLang="zh-CN" dirty="0"/>
              <a:t>- **</a:t>
            </a:r>
            <a:r>
              <a:rPr kumimoji="1" lang="zh-CN" altLang="en-US" dirty="0"/>
              <a:t>时间间隔**：</a:t>
            </a:r>
            <a:r>
              <a:rPr kumimoji="1" lang="en-US" altLang="zh-CN" dirty="0"/>
              <a:t>1</a:t>
            </a:r>
            <a:r>
              <a:rPr kumimoji="1" lang="zh-CN" altLang="en-US" dirty="0"/>
              <a:t>年</a:t>
            </a:r>
          </a:p>
          <a:p>
            <a:r>
              <a:rPr kumimoji="1" lang="en-US" altLang="zh-CN" dirty="0"/>
              <a:t>- **</a:t>
            </a:r>
            <a:r>
              <a:rPr kumimoji="1" lang="zh-CN" altLang="en-US" dirty="0"/>
              <a:t>流程**：</a:t>
            </a:r>
          </a:p>
          <a:p>
            <a:r>
              <a:rPr kumimoji="1" lang="zh-CN" altLang="en-US" dirty="0"/>
              <a:t>  </a:t>
            </a:r>
            <a:r>
              <a:rPr kumimoji="1" lang="en-US" altLang="zh-CN" dirty="0"/>
              <a:t>1. </a:t>
            </a:r>
            <a:r>
              <a:rPr kumimoji="1" lang="zh-CN" altLang="en-US" dirty="0"/>
              <a:t>时间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：测量对酒精的态度、确定性、客观与主观矛盾性（同实验</a:t>
            </a:r>
            <a:r>
              <a:rPr kumimoji="1" lang="en-US" altLang="zh-CN" dirty="0"/>
              <a:t>1</a:t>
            </a:r>
            <a:r>
              <a:rPr kumimoji="1" lang="zh-CN" altLang="en-US" dirty="0"/>
              <a:t>的问卷）。</a:t>
            </a:r>
          </a:p>
          <a:p>
            <a:r>
              <a:rPr kumimoji="1" lang="zh-CN" altLang="en-US" dirty="0"/>
              <a:t>  </a:t>
            </a:r>
            <a:r>
              <a:rPr kumimoji="1" lang="en-US" altLang="zh-CN" dirty="0"/>
              <a:t>2. </a:t>
            </a:r>
            <a:r>
              <a:rPr kumimoji="1" lang="zh-CN" altLang="en-US" dirty="0"/>
              <a:t>时间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zh-CN" altLang="en-US" dirty="0"/>
              <a:t>年后再次测量对酒精的态度。</a:t>
            </a:r>
          </a:p>
          <a:p>
            <a:r>
              <a:rPr kumimoji="1" lang="en-US" altLang="zh-CN" dirty="0"/>
              <a:t>- **</a:t>
            </a:r>
            <a:r>
              <a:rPr kumimoji="1" lang="zh-CN" altLang="en-US" dirty="0"/>
              <a:t>因变量**：态度稳定性（同实验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）。</a:t>
            </a:r>
          </a:p>
          <a:p>
            <a:endParaRPr kumimoji="1" lang="zh-CN" altLang="en-US" dirty="0"/>
          </a:p>
          <a:p>
            <a:r>
              <a:rPr kumimoji="1" lang="en-US" altLang="zh-CN" dirty="0"/>
              <a:t>---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### **</a:t>
            </a:r>
            <a:r>
              <a:rPr kumimoji="1" lang="zh-CN" altLang="en-US" dirty="0"/>
              <a:t>实验</a:t>
            </a:r>
            <a:r>
              <a:rPr kumimoji="1" lang="en-US" altLang="zh-CN" dirty="0"/>
              <a:t>3</a:t>
            </a:r>
            <a:r>
              <a:rPr kumimoji="1" lang="zh-CN" altLang="en-US" dirty="0"/>
              <a:t>（总统候选人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米特</a:t>
            </a:r>
            <a:r>
              <a:rPr kumimoji="1" lang="en-US" altLang="zh-CN" dirty="0"/>
              <a:t>·</a:t>
            </a:r>
            <a:r>
              <a:rPr kumimoji="1" lang="zh-CN" altLang="en-US" dirty="0"/>
              <a:t>罗姆尼）**</a:t>
            </a:r>
          </a:p>
          <a:p>
            <a:r>
              <a:rPr kumimoji="1" lang="en-US" altLang="zh-CN" dirty="0"/>
              <a:t>- **</a:t>
            </a:r>
            <a:r>
              <a:rPr kumimoji="1" lang="zh-CN" altLang="en-US" dirty="0"/>
              <a:t>时间间隔**：选举前</a:t>
            </a:r>
            <a:r>
              <a:rPr kumimoji="1" lang="en-US" altLang="zh-CN" dirty="0"/>
              <a:t>4-8</a:t>
            </a:r>
            <a:r>
              <a:rPr kumimoji="1" lang="zh-CN" altLang="en-US" dirty="0"/>
              <a:t>周 至 选举后</a:t>
            </a:r>
            <a:r>
              <a:rPr kumimoji="1" lang="en-US" altLang="zh-CN" dirty="0"/>
              <a:t>1</a:t>
            </a:r>
            <a:r>
              <a:rPr kumimoji="1" lang="zh-CN" altLang="en-US" dirty="0"/>
              <a:t>周内</a:t>
            </a:r>
          </a:p>
          <a:p>
            <a:r>
              <a:rPr kumimoji="1" lang="en-US" altLang="zh-CN" dirty="0"/>
              <a:t>- **</a:t>
            </a:r>
            <a:r>
              <a:rPr kumimoji="1" lang="zh-CN" altLang="en-US" dirty="0"/>
              <a:t>流程**：</a:t>
            </a:r>
          </a:p>
          <a:p>
            <a:r>
              <a:rPr kumimoji="1" lang="zh-CN" altLang="en-US" dirty="0"/>
              <a:t>  </a:t>
            </a:r>
            <a:r>
              <a:rPr kumimoji="1" lang="en-US" altLang="zh-CN" dirty="0"/>
              <a:t>1. </a:t>
            </a:r>
            <a:r>
              <a:rPr kumimoji="1" lang="zh-CN" altLang="en-US" dirty="0"/>
              <a:t>时间</a:t>
            </a:r>
            <a:r>
              <a:rPr kumimoji="1" lang="en-US" altLang="zh-CN" dirty="0"/>
              <a:t>1</a:t>
            </a:r>
            <a:r>
              <a:rPr kumimoji="1" lang="zh-CN" altLang="en-US" dirty="0"/>
              <a:t>（大选前</a:t>
            </a:r>
            <a:r>
              <a:rPr kumimoji="1" lang="en-US" altLang="zh-CN" dirty="0"/>
              <a:t>4-8</a:t>
            </a:r>
            <a:r>
              <a:rPr kumimoji="1" lang="zh-CN" altLang="en-US" dirty="0"/>
              <a:t>周）：在实验室测量对罗姆尼的态度（</a:t>
            </a:r>
            <a:r>
              <a:rPr kumimoji="1" lang="en-US" altLang="zh-CN" dirty="0"/>
              <a:t>9</a:t>
            </a:r>
            <a:r>
              <a:rPr kumimoji="1" lang="zh-CN" altLang="en-US" dirty="0"/>
              <a:t>点语义差异项）、态度确定性（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项自信</a:t>
            </a:r>
            <a:r>
              <a:rPr kumimoji="1" lang="en-US" altLang="zh-CN" dirty="0"/>
              <a:t>/</a:t>
            </a:r>
            <a:r>
              <a:rPr kumimoji="1" lang="zh-CN" altLang="en-US" dirty="0"/>
              <a:t>确信）、客观矛盾性（通过正面与负面人格特质评分计算，如诚实</a:t>
            </a:r>
            <a:r>
              <a:rPr kumimoji="1" lang="en-US" altLang="zh-CN" dirty="0"/>
              <a:t>/</a:t>
            </a:r>
            <a:r>
              <a:rPr kumimoji="1" lang="zh-CN" altLang="en-US" dirty="0"/>
              <a:t>不诚实等）。</a:t>
            </a:r>
          </a:p>
          <a:p>
            <a:r>
              <a:rPr kumimoji="1" lang="zh-CN" altLang="en-US" dirty="0"/>
              <a:t>  </a:t>
            </a:r>
            <a:r>
              <a:rPr kumimoji="1" lang="en-US" altLang="zh-CN" dirty="0"/>
              <a:t>2. </a:t>
            </a:r>
            <a:r>
              <a:rPr kumimoji="1" lang="zh-CN" altLang="en-US" dirty="0"/>
              <a:t>时间</a:t>
            </a:r>
            <a:r>
              <a:rPr kumimoji="1" lang="en-US" altLang="zh-CN" dirty="0"/>
              <a:t>2</a:t>
            </a:r>
            <a:r>
              <a:rPr kumimoji="1" lang="zh-CN" altLang="en-US" dirty="0"/>
              <a:t>（大选结束后次日发邮件，开放</a:t>
            </a:r>
            <a:r>
              <a:rPr kumimoji="1" lang="en-US" altLang="zh-CN" dirty="0"/>
              <a:t>1</a:t>
            </a:r>
            <a:r>
              <a:rPr kumimoji="1" lang="zh-CN" altLang="en-US" dirty="0"/>
              <a:t>周）：再次测量对罗姆尼的态度。</a:t>
            </a:r>
          </a:p>
          <a:p>
            <a:r>
              <a:rPr kumimoji="1" lang="en-US" altLang="zh-CN" dirty="0"/>
              <a:t>- **</a:t>
            </a:r>
            <a:r>
              <a:rPr kumimoji="1" lang="zh-CN" altLang="en-US" dirty="0"/>
              <a:t>因变量**：态度稳定性（同前）。</a:t>
            </a:r>
          </a:p>
          <a:p>
            <a:endParaRPr kumimoji="1" lang="zh-CN" altLang="en-US" dirty="0"/>
          </a:p>
          <a:p>
            <a:r>
              <a:rPr kumimoji="1" lang="en-US" altLang="zh-CN" dirty="0"/>
              <a:t>---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三个实验的核心流程一致：**时间</a:t>
            </a:r>
            <a:r>
              <a:rPr kumimoji="1" lang="en-US" altLang="zh-CN" dirty="0"/>
              <a:t>1</a:t>
            </a:r>
            <a:r>
              <a:rPr kumimoji="1" lang="zh-CN" altLang="en-US" dirty="0"/>
              <a:t>测量态度、确定性、矛盾性 → 间隔一段时间 → 时间</a:t>
            </a:r>
            <a:r>
              <a:rPr kumimoji="1" lang="en-US" altLang="zh-CN" dirty="0"/>
              <a:t>2</a:t>
            </a:r>
            <a:r>
              <a:rPr kumimoji="1" lang="zh-CN" altLang="en-US" dirty="0"/>
              <a:t>再次测量态度 → 计算稳定性**，只是态度对象、间隔时长和矛盾性测量方式略有差异。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0838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在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Introduction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中，作者从态度（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attitude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）的定义出发，指出态度虽被视为相对持久的评价（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relatively enduring evaluation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），但实际常常不稳定（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unstable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），而不稳定会削弱态度对行为（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behavior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）的预测力，</a:t>
            </a:r>
            <a:endParaRPr lang="en-US" altLang="zh-CN" b="0" i="0" u="none" strike="noStrike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因此稳定性（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stability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）是“强态度（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strong attitude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）”的关键指标之一。以往研究主要关注态度强度（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attitude strength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）变量的主效应（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main effect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），例如态度可及性（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accessibility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）和重要性（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importance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）越高则稳定性越强，但聚焦于矛盾性（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ambivalence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）和确定性（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certainty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）时，结果却不一致（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inconsistent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）：理论上矛盾性低、确定性高应带来更高稳定性，但实证支持不一，提示可能存在调节变量（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moderator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）。为此，作者提出矛盾性与确定性会交互影响稳定性：客观矛盾性（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objective ambivalence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）反映正负评价并存的结构，确定性是对自身态度的元认知（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meta-cognitive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）确信感（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sense of validity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）；确定性会放大当前激活评价的影响力，因此在矛盾性高时，高确定性反而放大评价波动，导致更不稳定，而在矛盾性低时，高确定性则巩固一致评价，增强稳定性。研究还区分客观与主观矛盾性（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subjective ambivalence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），并将态度极端性（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extremity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）作为协变量（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covariate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），最终通过多项纵向研究（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longitudinal study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）检验这一交互作用（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interaction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）。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3052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8784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3770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0D42-C64A-4D20-E58C-5A832978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1D84BA-E69A-9815-B984-ED925F513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358B5C-E569-C75D-2DE7-C2014D526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829BF-9022-D33E-2E52-46A84784D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1668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727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9C9E-7408-EE8D-0150-512E7D482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3964F7-C7BB-ACA5-7301-BDFABA055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3E960A-071B-AD02-4462-809F8513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431186-B0F6-5501-7A92-6C576D6CF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5959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9748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1660A-C724-9E0B-4F1C-344F2BAE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559B1D-C5B8-8608-7770-957CDE308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362F90-386D-086F-DFEF-52C869271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54B9B9-12C6-DEEC-1143-D5845F86C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333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11F2B-87CA-4302-2152-07FA580D1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D33D40-A97C-EBA2-2679-125B97010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7ED502-6A1B-4C41-562B-5C0C9CF3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F4E2D9-3DC0-C1C8-D9FD-5D123C31A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8702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B038-1AB1-BE80-5FF1-DC8E36C2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879C9F-8602-F86D-3A3B-17AE88E5F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05DEC6-F30E-E962-45A3-B28207DC8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62F716-FC37-758E-64DF-CD966D073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0887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1D1BC-ED3C-92B4-19F7-CDE7E633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ED3BFC-AB6E-2DF2-025A-712556592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0B8045-C6A3-268D-C126-5B4ECFEE9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9CC4DD-F1EF-44B3-5D95-2DF41B563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5070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4277C-D3D6-460B-F32B-B45E2D23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9F2CED-4013-99DD-279B-9A06FD47B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568C9B-6404-A9CE-6E96-22C1F6C10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8B6326-7F92-BA8F-8A19-A80F74F7D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2249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1681B-4B98-AB53-FCE7-B9B796C97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2CF34F-B1AC-7665-F754-D34C6AA95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9F499F-8CB6-F937-ADDE-5DB09487D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870913-2909-1A18-2353-B964C53E9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03054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3FFDC-96E4-4876-9A05-AAD00679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5FC963-F584-9E23-435B-E9DF0EDF8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724C1D-D863-7FCB-8163-BC1092E6C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033327-1074-5904-0843-431094650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9818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F9F7A-953E-C650-FF37-B1E5B869B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EA3EB2-04C4-0F8D-5A10-04AA2A1F8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86F4CF-F2C6-CF26-CE75-34C176776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5F260C-B98D-6058-DFC5-7A704D9C4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04245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37056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05708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39DE-B040-6152-AA64-DA1A2790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9F8E44-191B-BFED-C984-4D88150A3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0C398C-39D2-1563-DADD-370F30FC3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1337FF-C7C3-27DA-CC7C-CF11723F5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0484A-7C6E-CA49-8DC3-0E808C380D69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9853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0620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2" name="Group 6" title="left scallop shape">
            <a:extLst>
              <a:ext uri="{FF2B5EF4-FFF2-40B4-BE49-F238E27FC236}">
                <a16:creationId xmlns:a16="http://schemas.microsoft.com/office/drawing/2014/main" id="{FAD04ABB-1A0D-7710-441D-C46CA15DD44B}"/>
              </a:ext>
            </a:extLst>
          </p:cNvPr>
          <p:cNvGrpSpPr/>
          <p:nvPr userDrawn="1"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4" name="Freeform 6" title="left scallop shape">
              <a:extLst>
                <a:ext uri="{FF2B5EF4-FFF2-40B4-BE49-F238E27FC236}">
                  <a16:creationId xmlns:a16="http://schemas.microsoft.com/office/drawing/2014/main" id="{C12025F9-9F8B-5B19-9E0E-B494A4BA7DB1}"/>
                </a:ext>
              </a:extLst>
            </p:cNvPr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5" name="Freeform 11" title="left scallop inline">
              <a:extLst>
                <a:ext uri="{FF2B5EF4-FFF2-40B4-BE49-F238E27FC236}">
                  <a16:creationId xmlns:a16="http://schemas.microsoft.com/office/drawing/2014/main" id="{AC434F51-F0F5-6DD2-1A47-D2AB179DDD1F}"/>
                </a:ext>
              </a:extLst>
            </p:cNvPr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603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541929"/>
            <a:ext cx="10178322" cy="4624955"/>
          </a:xfrm>
        </p:spPr>
        <p:txBody>
          <a:bodyPr/>
          <a:lstStyle>
            <a:lvl1pPr marL="457200" indent="-457200">
              <a:spcBef>
                <a:spcPts val="600"/>
              </a:spcBef>
              <a:buFont typeface="Wingdings" pitchFamily="2" charset="2"/>
              <a:buChar char="l"/>
              <a:defRPr/>
            </a:lvl1pPr>
            <a:lvl2pPr marL="800100" indent="-342900">
              <a:spcBef>
                <a:spcPts val="600"/>
              </a:spcBef>
              <a:buFont typeface="Wingdings" pitchFamily="2" charset="2"/>
              <a:buChar char="l"/>
              <a:defRPr/>
            </a:lvl2pPr>
            <a:lvl3pPr marL="1257300" indent="-342900">
              <a:spcBef>
                <a:spcPts val="600"/>
              </a:spcBef>
              <a:buFont typeface="Wingdings" pitchFamily="2" charset="2"/>
              <a:buChar char="l"/>
              <a:defRPr/>
            </a:lvl3pPr>
            <a:lvl4pPr marL="1657350" indent="-285750">
              <a:spcBef>
                <a:spcPts val="600"/>
              </a:spcBef>
              <a:buFont typeface="Wingdings" pitchFamily="2" charset="2"/>
              <a:buChar char="l"/>
              <a:defRPr/>
            </a:lvl4pPr>
            <a:lvl5pPr marL="2114550" indent="-285750">
              <a:spcBef>
                <a:spcPts val="600"/>
              </a:spcBef>
              <a:buFont typeface="Wingdings" pitchFamily="2" charset="2"/>
              <a:buChar char="l"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38535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308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50788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7887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5789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86824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74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6869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400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085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1541929"/>
            <a:ext cx="10178322" cy="4337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D49C84A-41EC-A64B-BAEB-75D383F3FE1F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2ADCA39-C576-B947-ADF1-00FBEE5CF91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910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44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Wingdings" pitchFamily="2" charset="2"/>
        <a:buChar char="l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914400" indent="-4572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Wingdings" pitchFamily="2" charset="2"/>
        <a:buChar char="l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371600" indent="-4572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Wingdings" pitchFamily="2" charset="2"/>
        <a:buChar char="l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714500" indent="-3429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Wingdings" pitchFamily="2" charset="2"/>
        <a:buChar char="l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171700" indent="-3429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Wingdings" pitchFamily="2" charset="2"/>
        <a:buChar char="l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A2DDDEC-3B13-4A3D-DC97-947D009B0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4077" y="1020026"/>
            <a:ext cx="6896658" cy="4394988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zh-CN" altLang="en-US" sz="4800" b="1" dirty="0">
                <a:latin typeface="+mj-ea"/>
              </a:rPr>
              <a:t>对</a:t>
            </a:r>
            <a:r>
              <a:rPr lang="en-US" altLang="zh-CN" sz="4800" b="1" dirty="0">
                <a:latin typeface="+mj-ea"/>
              </a:rPr>
              <a:t>Luttrell</a:t>
            </a:r>
            <a:br>
              <a:rPr lang="en-US" altLang="zh-CN" sz="4800" b="1" dirty="0">
                <a:latin typeface="+mj-ea"/>
              </a:rPr>
            </a:br>
            <a:r>
              <a:rPr lang="en-US" altLang="zh-CN" sz="4800" b="1" dirty="0">
                <a:latin typeface="+mj-ea"/>
              </a:rPr>
              <a:t>JeSP_2016_rjb</a:t>
            </a:r>
            <a:br>
              <a:rPr lang="en-US" altLang="zh-CN" sz="4800" b="1" dirty="0">
                <a:latin typeface="+mj-ea"/>
              </a:rPr>
            </a:br>
            <a:r>
              <a:rPr lang="zh-CN" altLang="en-US" sz="4800" b="1" dirty="0">
                <a:latin typeface="+mj-ea"/>
              </a:rPr>
              <a:t>可重复性研究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B9B97A64-D534-4F94-D718-14CB77C0B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2751" y="4546097"/>
            <a:ext cx="4404189" cy="742279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/>
              <a:t>汇报人：周乐尔</a:t>
            </a:r>
          </a:p>
        </p:txBody>
      </p:sp>
      <p:pic>
        <p:nvPicPr>
          <p:cNvPr id="1026" name="Picture 2" descr="Go to journal home page - Journal of Experimental Social Psychology">
            <a:extLst>
              <a:ext uri="{FF2B5EF4-FFF2-40B4-BE49-F238E27FC236}">
                <a16:creationId xmlns:a16="http://schemas.microsoft.com/office/drawing/2014/main" id="{2C7C830F-F20B-BA5B-C567-5576FF1E2F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"/>
          <a:stretch/>
        </p:blipFill>
        <p:spPr bwMode="auto">
          <a:xfrm>
            <a:off x="795060" y="1236263"/>
            <a:ext cx="2983357" cy="4115047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E6797F7-0C6E-115C-70CF-95C2C275D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088" y="3075742"/>
            <a:ext cx="2165770" cy="2910430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7" name="标题 4">
            <a:extLst>
              <a:ext uri="{FF2B5EF4-FFF2-40B4-BE49-F238E27FC236}">
                <a16:creationId xmlns:a16="http://schemas.microsoft.com/office/drawing/2014/main" id="{39E2B18B-9F54-D817-B75B-721E2EF8EA62}"/>
              </a:ext>
            </a:extLst>
          </p:cNvPr>
          <p:cNvSpPr txBox="1">
            <a:spLocks/>
          </p:cNvSpPr>
          <p:nvPr/>
        </p:nvSpPr>
        <p:spPr>
          <a:xfrm>
            <a:off x="5199250" y="4861164"/>
            <a:ext cx="6197690" cy="12819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kern="1200" cap="all" spc="8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en-US" altLang="zh-CN" sz="1100" b="1" dirty="0">
                <a:solidFill>
                  <a:srgbClr val="141413"/>
                </a:solidFill>
                <a:effectLst/>
                <a:latin typeface="+mj-ea"/>
              </a:rPr>
              <a:t>Ambivalence and certainty </a:t>
            </a:r>
          </a:p>
          <a:p>
            <a:pPr algn="dist"/>
            <a:r>
              <a:rPr lang="en-US" altLang="zh-CN" sz="1100" b="1" dirty="0">
                <a:solidFill>
                  <a:srgbClr val="141413"/>
                </a:solidFill>
                <a:effectLst/>
                <a:latin typeface="+mj-ea"/>
              </a:rPr>
              <a:t>can interact to predict </a:t>
            </a:r>
          </a:p>
          <a:p>
            <a:pPr algn="dist"/>
            <a:r>
              <a:rPr lang="en-US" altLang="zh-CN" sz="1100" b="1" dirty="0">
                <a:solidFill>
                  <a:srgbClr val="141413"/>
                </a:solidFill>
                <a:effectLst/>
                <a:latin typeface="+mj-ea"/>
              </a:rPr>
              <a:t>attitude stability</a:t>
            </a:r>
            <a:r>
              <a:rPr lang="zh-CN" altLang="en-US" sz="1100" b="1" dirty="0">
                <a:solidFill>
                  <a:srgbClr val="141413"/>
                </a:solidFill>
                <a:effectLst/>
                <a:latin typeface="+mj-ea"/>
              </a:rPr>
              <a:t> </a:t>
            </a:r>
            <a:r>
              <a:rPr lang="en-US" altLang="zh-CN" sz="1100" b="1" dirty="0">
                <a:solidFill>
                  <a:srgbClr val="141413"/>
                </a:solidFill>
                <a:effectLst/>
                <a:latin typeface="+mj-ea"/>
              </a:rPr>
              <a:t>over time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339013-9FE1-477C-1EB6-4908A8B0874E}"/>
              </a:ext>
            </a:extLst>
          </p:cNvPr>
          <p:cNvSpPr txBox="1"/>
          <p:nvPr/>
        </p:nvSpPr>
        <p:spPr>
          <a:xfrm>
            <a:off x="5199249" y="1420816"/>
            <a:ext cx="6197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Replication of a Research</a:t>
            </a:r>
          </a:p>
        </p:txBody>
      </p:sp>
    </p:spTree>
    <p:extLst>
      <p:ext uri="{BB962C8B-B14F-4D97-AF65-F5344CB8AC3E}">
        <p14:creationId xmlns:p14="http://schemas.microsoft.com/office/powerpoint/2010/main" val="362736204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305E5-7258-64C4-C4D5-E9126EBC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141413"/>
                </a:solidFill>
                <a:effectLst/>
                <a:latin typeface="+mj-ea"/>
              </a:rPr>
              <a:t>Introduction</a:t>
            </a:r>
            <a:endParaRPr kumimoji="1" lang="zh-CN" altLang="en-US" dirty="0"/>
          </a:p>
        </p:txBody>
      </p:sp>
      <p:sp>
        <p:nvSpPr>
          <p:cNvPr id="4" name="圆角矩形标注 3">
            <a:extLst>
              <a:ext uri="{FF2B5EF4-FFF2-40B4-BE49-F238E27FC236}">
                <a16:creationId xmlns:a16="http://schemas.microsoft.com/office/drawing/2014/main" id="{E8A4ADE7-FBCA-5993-8CB8-3F898D97D511}"/>
              </a:ext>
            </a:extLst>
          </p:cNvPr>
          <p:cNvSpPr/>
          <p:nvPr/>
        </p:nvSpPr>
        <p:spPr>
          <a:xfrm>
            <a:off x="2773253" y="1875833"/>
            <a:ext cx="6645493" cy="1289267"/>
          </a:xfrm>
          <a:prstGeom prst="wedgeRoundRectCallout">
            <a:avLst>
              <a:gd name="adj1" fmla="val 37359"/>
              <a:gd name="adj2" fmla="val 8761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你觉得，那个</a:t>
            </a:r>
            <a:r>
              <a:rPr lang="en-US" altLang="zh-CN" sz="32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AI</a:t>
            </a:r>
            <a:r>
              <a:rPr lang="zh-CN" altLang="en-US" sz="3200" b="1" dirty="0">
                <a:solidFill>
                  <a:srgbClr val="0F1115"/>
                </a:solidFill>
                <a:latin typeface="+mj-ea"/>
                <a:ea typeface="+mj-ea"/>
              </a:rPr>
              <a:t>怎么样啊</a:t>
            </a:r>
            <a:r>
              <a:rPr lang="zh-CN" altLang="en-US" sz="32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？</a:t>
            </a:r>
            <a:endParaRPr lang="en-US" altLang="zh-CN" sz="3200" b="1" i="0" u="none" strike="noStrike" dirty="0">
              <a:solidFill>
                <a:srgbClr val="0F1115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0" name="图形 9" descr="有想法的人 纯色填充">
            <a:extLst>
              <a:ext uri="{FF2B5EF4-FFF2-40B4-BE49-F238E27FC236}">
                <a16:creationId xmlns:a16="http://schemas.microsoft.com/office/drawing/2014/main" id="{52BFF157-B585-C6BC-A553-BE733C5A3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3635751"/>
            <a:ext cx="2495550" cy="2495550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E2028C0D-5911-ADC9-CC3C-AD855A0ECAD7}"/>
              </a:ext>
            </a:extLst>
          </p:cNvPr>
          <p:cNvSpPr/>
          <p:nvPr/>
        </p:nvSpPr>
        <p:spPr>
          <a:xfrm>
            <a:off x="6591299" y="4832538"/>
            <a:ext cx="2000251" cy="888624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attitude</a:t>
            </a:r>
            <a:endParaRPr lang="zh-CN" altLang="en-US" sz="2800" b="1" dirty="0">
              <a:latin typeface="+mj-ea"/>
              <a:ea typeface="+mj-ea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A08C7A02-F0C4-DF7A-058A-77FAA7542E42}"/>
              </a:ext>
            </a:extLst>
          </p:cNvPr>
          <p:cNvCxnSpPr/>
          <p:nvPr/>
        </p:nvCxnSpPr>
        <p:spPr>
          <a:xfrm>
            <a:off x="4629150" y="5276850"/>
            <a:ext cx="146685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018BD4B3-961A-660C-8CC7-E33D582CEB5E}"/>
              </a:ext>
            </a:extLst>
          </p:cNvPr>
          <p:cNvSpPr/>
          <p:nvPr/>
        </p:nvSpPr>
        <p:spPr>
          <a:xfrm>
            <a:off x="8694845" y="4832538"/>
            <a:ext cx="1858854" cy="88862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0F1115"/>
                </a:solidFill>
                <a:latin typeface="+mj-ea"/>
                <a:ea typeface="+mj-ea"/>
              </a:rPr>
              <a:t>stability</a:t>
            </a:r>
          </a:p>
        </p:txBody>
      </p:sp>
    </p:spTree>
    <p:extLst>
      <p:ext uri="{BB962C8B-B14F-4D97-AF65-F5344CB8AC3E}">
        <p14:creationId xmlns:p14="http://schemas.microsoft.com/office/powerpoint/2010/main" val="10796279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形状 24">
            <a:extLst>
              <a:ext uri="{FF2B5EF4-FFF2-40B4-BE49-F238E27FC236}">
                <a16:creationId xmlns:a16="http://schemas.microsoft.com/office/drawing/2014/main" id="{57B671BA-A8DB-7CBB-F70D-498CA9C4FDB6}"/>
              </a:ext>
            </a:extLst>
          </p:cNvPr>
          <p:cNvSpPr/>
          <p:nvPr/>
        </p:nvSpPr>
        <p:spPr>
          <a:xfrm>
            <a:off x="5024788" y="3539572"/>
            <a:ext cx="6756223" cy="3067698"/>
          </a:xfrm>
          <a:custGeom>
            <a:avLst/>
            <a:gdLst>
              <a:gd name="connsiteX0" fmla="*/ 446212 w 6756223"/>
              <a:gd name="connsiteY0" fmla="*/ 1535508 h 3067698"/>
              <a:gd name="connsiteX1" fmla="*/ 878474 w 6756223"/>
              <a:gd name="connsiteY1" fmla="*/ 870490 h 3067698"/>
              <a:gd name="connsiteX2" fmla="*/ 2624147 w 6756223"/>
              <a:gd name="connsiteY2" fmla="*/ 1169748 h 3067698"/>
              <a:gd name="connsiteX3" fmla="*/ 3388918 w 6756223"/>
              <a:gd name="connsiteY3" fmla="*/ 338476 h 3067698"/>
              <a:gd name="connsiteX4" fmla="*/ 4203565 w 6756223"/>
              <a:gd name="connsiteY4" fmla="*/ 22592 h 3067698"/>
              <a:gd name="connsiteX5" fmla="*/ 5799609 w 6756223"/>
              <a:gd name="connsiteY5" fmla="*/ 903741 h 3067698"/>
              <a:gd name="connsiteX6" fmla="*/ 6714009 w 6756223"/>
              <a:gd name="connsiteY6" fmla="*/ 1236250 h 3067698"/>
              <a:gd name="connsiteX7" fmla="*/ 6497878 w 6756223"/>
              <a:gd name="connsiteY7" fmla="*/ 2516410 h 3067698"/>
              <a:gd name="connsiteX8" fmla="*/ 5566852 w 6756223"/>
              <a:gd name="connsiteY8" fmla="*/ 2898796 h 3067698"/>
              <a:gd name="connsiteX9" fmla="*/ 4436321 w 6756223"/>
              <a:gd name="connsiteY9" fmla="*/ 2765792 h 3067698"/>
              <a:gd name="connsiteX10" fmla="*/ 3023158 w 6756223"/>
              <a:gd name="connsiteY10" fmla="*/ 2350156 h 3067698"/>
              <a:gd name="connsiteX11" fmla="*/ 1842751 w 6756223"/>
              <a:gd name="connsiteY11" fmla="*/ 2998548 h 3067698"/>
              <a:gd name="connsiteX12" fmla="*/ 63827 w 6756223"/>
              <a:gd name="connsiteY12" fmla="*/ 2882170 h 3067698"/>
              <a:gd name="connsiteX13" fmla="*/ 446212 w 6756223"/>
              <a:gd name="connsiteY13" fmla="*/ 1535508 h 3067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756223" h="3067698">
                <a:moveTo>
                  <a:pt x="446212" y="1535508"/>
                </a:moveTo>
                <a:cubicBezTo>
                  <a:pt x="581986" y="1200228"/>
                  <a:pt x="515485" y="931450"/>
                  <a:pt x="878474" y="870490"/>
                </a:cubicBezTo>
                <a:cubicBezTo>
                  <a:pt x="1241463" y="809530"/>
                  <a:pt x="2205740" y="1258417"/>
                  <a:pt x="2624147" y="1169748"/>
                </a:cubicBezTo>
                <a:cubicBezTo>
                  <a:pt x="3042554" y="1081079"/>
                  <a:pt x="3125682" y="529669"/>
                  <a:pt x="3388918" y="338476"/>
                </a:cubicBezTo>
                <a:cubicBezTo>
                  <a:pt x="3652154" y="147283"/>
                  <a:pt x="3801783" y="-71619"/>
                  <a:pt x="4203565" y="22592"/>
                </a:cubicBezTo>
                <a:cubicBezTo>
                  <a:pt x="4605347" y="116803"/>
                  <a:pt x="5381202" y="701465"/>
                  <a:pt x="5799609" y="903741"/>
                </a:cubicBezTo>
                <a:cubicBezTo>
                  <a:pt x="6218016" y="1106017"/>
                  <a:pt x="6597631" y="967472"/>
                  <a:pt x="6714009" y="1236250"/>
                </a:cubicBezTo>
                <a:cubicBezTo>
                  <a:pt x="6830387" y="1505028"/>
                  <a:pt x="6689071" y="2239319"/>
                  <a:pt x="6497878" y="2516410"/>
                </a:cubicBezTo>
                <a:cubicBezTo>
                  <a:pt x="6306685" y="2793501"/>
                  <a:pt x="5910445" y="2857232"/>
                  <a:pt x="5566852" y="2898796"/>
                </a:cubicBezTo>
                <a:cubicBezTo>
                  <a:pt x="5223259" y="2940360"/>
                  <a:pt x="4860270" y="2857232"/>
                  <a:pt x="4436321" y="2765792"/>
                </a:cubicBezTo>
                <a:cubicBezTo>
                  <a:pt x="4012372" y="2674352"/>
                  <a:pt x="3455420" y="2311363"/>
                  <a:pt x="3023158" y="2350156"/>
                </a:cubicBezTo>
                <a:cubicBezTo>
                  <a:pt x="2590896" y="2388949"/>
                  <a:pt x="2335973" y="2909879"/>
                  <a:pt x="1842751" y="2998548"/>
                </a:cubicBezTo>
                <a:cubicBezTo>
                  <a:pt x="1349529" y="3087217"/>
                  <a:pt x="299354" y="3128781"/>
                  <a:pt x="63827" y="2882170"/>
                </a:cubicBezTo>
                <a:cubicBezTo>
                  <a:pt x="-171700" y="2635559"/>
                  <a:pt x="310438" y="1870788"/>
                  <a:pt x="446212" y="1535508"/>
                </a:cubicBezTo>
                <a:close/>
              </a:path>
            </a:pathLst>
          </a:custGeom>
          <a:solidFill>
            <a:srgbClr val="53AE6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任意形状 23">
            <a:extLst>
              <a:ext uri="{FF2B5EF4-FFF2-40B4-BE49-F238E27FC236}">
                <a16:creationId xmlns:a16="http://schemas.microsoft.com/office/drawing/2014/main" id="{5BCBF62B-DEF1-5B63-37E7-F14654545806}"/>
              </a:ext>
            </a:extLst>
          </p:cNvPr>
          <p:cNvSpPr/>
          <p:nvPr/>
        </p:nvSpPr>
        <p:spPr>
          <a:xfrm>
            <a:off x="4054948" y="980600"/>
            <a:ext cx="7726063" cy="2876632"/>
          </a:xfrm>
          <a:custGeom>
            <a:avLst/>
            <a:gdLst>
              <a:gd name="connsiteX0" fmla="*/ 699932 w 7726063"/>
              <a:gd name="connsiteY0" fmla="*/ 681945 h 2876632"/>
              <a:gd name="connsiteX1" fmla="*/ 2495481 w 7726063"/>
              <a:gd name="connsiteY1" fmla="*/ 565567 h 2876632"/>
              <a:gd name="connsiteX2" fmla="*/ 3592761 w 7726063"/>
              <a:gd name="connsiteY2" fmla="*/ 302 h 2876632"/>
              <a:gd name="connsiteX3" fmla="*/ 5521314 w 7726063"/>
              <a:gd name="connsiteY3" fmla="*/ 648695 h 2876632"/>
              <a:gd name="connsiteX4" fmla="*/ 6917852 w 7726063"/>
              <a:gd name="connsiteY4" fmla="*/ 881451 h 2876632"/>
              <a:gd name="connsiteX5" fmla="*/ 7217110 w 7726063"/>
              <a:gd name="connsiteY5" fmla="*/ 1629596 h 2876632"/>
              <a:gd name="connsiteX6" fmla="*/ 7715874 w 7726063"/>
              <a:gd name="connsiteY6" fmla="*/ 2277989 h 2876632"/>
              <a:gd name="connsiteX7" fmla="*/ 6718347 w 7726063"/>
              <a:gd name="connsiteY7" fmla="*/ 2876505 h 2876632"/>
              <a:gd name="connsiteX8" fmla="*/ 5055801 w 7726063"/>
              <a:gd name="connsiteY8" fmla="*/ 2228113 h 2876632"/>
              <a:gd name="connsiteX9" fmla="*/ 4058274 w 7726063"/>
              <a:gd name="connsiteY9" fmla="*/ 2743502 h 2876632"/>
              <a:gd name="connsiteX10" fmla="*/ 3260252 w 7726063"/>
              <a:gd name="connsiteY10" fmla="*/ 1745975 h 2876632"/>
              <a:gd name="connsiteX11" fmla="*/ 2312601 w 7726063"/>
              <a:gd name="connsiteY11" fmla="*/ 1662847 h 2876632"/>
              <a:gd name="connsiteX12" fmla="*/ 1098943 w 7726063"/>
              <a:gd name="connsiteY12" fmla="*/ 1829102 h 2876632"/>
              <a:gd name="connsiteX13" fmla="*/ 550303 w 7726063"/>
              <a:gd name="connsiteY13" fmla="*/ 1297087 h 2876632"/>
              <a:gd name="connsiteX14" fmla="*/ 1663 w 7726063"/>
              <a:gd name="connsiteY14" fmla="*/ 482440 h 2876632"/>
              <a:gd name="connsiteX15" fmla="*/ 699932 w 7726063"/>
              <a:gd name="connsiteY15" fmla="*/ 681945 h 287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726063" h="2876632">
                <a:moveTo>
                  <a:pt x="699932" y="681945"/>
                </a:moveTo>
                <a:cubicBezTo>
                  <a:pt x="1115568" y="695799"/>
                  <a:pt x="2013343" y="679174"/>
                  <a:pt x="2495481" y="565567"/>
                </a:cubicBezTo>
                <a:cubicBezTo>
                  <a:pt x="2977619" y="451960"/>
                  <a:pt x="3088456" y="-13553"/>
                  <a:pt x="3592761" y="302"/>
                </a:cubicBezTo>
                <a:cubicBezTo>
                  <a:pt x="4097066" y="14157"/>
                  <a:pt x="4967132" y="501837"/>
                  <a:pt x="5521314" y="648695"/>
                </a:cubicBezTo>
                <a:cubicBezTo>
                  <a:pt x="6075496" y="795553"/>
                  <a:pt x="6635219" y="717967"/>
                  <a:pt x="6917852" y="881451"/>
                </a:cubicBezTo>
                <a:cubicBezTo>
                  <a:pt x="7200485" y="1044935"/>
                  <a:pt x="7084106" y="1396840"/>
                  <a:pt x="7217110" y="1629596"/>
                </a:cubicBezTo>
                <a:cubicBezTo>
                  <a:pt x="7350114" y="1862352"/>
                  <a:pt x="7799001" y="2070171"/>
                  <a:pt x="7715874" y="2277989"/>
                </a:cubicBezTo>
                <a:cubicBezTo>
                  <a:pt x="7632747" y="2485807"/>
                  <a:pt x="7161692" y="2884818"/>
                  <a:pt x="6718347" y="2876505"/>
                </a:cubicBezTo>
                <a:cubicBezTo>
                  <a:pt x="6275002" y="2868192"/>
                  <a:pt x="5499146" y="2250280"/>
                  <a:pt x="5055801" y="2228113"/>
                </a:cubicBezTo>
                <a:cubicBezTo>
                  <a:pt x="4612456" y="2205946"/>
                  <a:pt x="4357532" y="2823858"/>
                  <a:pt x="4058274" y="2743502"/>
                </a:cubicBezTo>
                <a:cubicBezTo>
                  <a:pt x="3759016" y="2663146"/>
                  <a:pt x="3551197" y="1926084"/>
                  <a:pt x="3260252" y="1745975"/>
                </a:cubicBezTo>
                <a:cubicBezTo>
                  <a:pt x="2969307" y="1565866"/>
                  <a:pt x="2672819" y="1648993"/>
                  <a:pt x="2312601" y="1662847"/>
                </a:cubicBezTo>
                <a:cubicBezTo>
                  <a:pt x="1952383" y="1676701"/>
                  <a:pt x="1392659" y="1890062"/>
                  <a:pt x="1098943" y="1829102"/>
                </a:cubicBezTo>
                <a:cubicBezTo>
                  <a:pt x="805227" y="1768142"/>
                  <a:pt x="733183" y="1521531"/>
                  <a:pt x="550303" y="1297087"/>
                </a:cubicBezTo>
                <a:cubicBezTo>
                  <a:pt x="367423" y="1072643"/>
                  <a:pt x="-28817" y="582193"/>
                  <a:pt x="1663" y="482440"/>
                </a:cubicBezTo>
                <a:cubicBezTo>
                  <a:pt x="32143" y="382687"/>
                  <a:pt x="284296" y="668091"/>
                  <a:pt x="699932" y="681945"/>
                </a:cubicBezTo>
                <a:close/>
              </a:path>
            </a:pathLst>
          </a:custGeom>
          <a:solidFill>
            <a:srgbClr val="53AE6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/>
          </a:p>
        </p:txBody>
      </p:sp>
      <p:sp>
        <p:nvSpPr>
          <p:cNvPr id="22" name="任意形状 21">
            <a:extLst>
              <a:ext uri="{FF2B5EF4-FFF2-40B4-BE49-F238E27FC236}">
                <a16:creationId xmlns:a16="http://schemas.microsoft.com/office/drawing/2014/main" id="{DF7FF9CE-A295-E262-86C3-C1EE85624F26}"/>
              </a:ext>
            </a:extLst>
          </p:cNvPr>
          <p:cNvSpPr/>
          <p:nvPr/>
        </p:nvSpPr>
        <p:spPr>
          <a:xfrm rot="480587">
            <a:off x="1096378" y="1203220"/>
            <a:ext cx="3704947" cy="5233727"/>
          </a:xfrm>
          <a:custGeom>
            <a:avLst/>
            <a:gdLst>
              <a:gd name="connsiteX0" fmla="*/ 915797 w 3686667"/>
              <a:gd name="connsiteY0" fmla="*/ 706669 h 5758271"/>
              <a:gd name="connsiteX1" fmla="*/ 1663942 w 3686667"/>
              <a:gd name="connsiteY1" fmla="*/ 8400 h 5758271"/>
              <a:gd name="connsiteX2" fmla="*/ 3043855 w 3686667"/>
              <a:gd name="connsiteY2" fmla="*/ 1155556 h 5758271"/>
              <a:gd name="connsiteX3" fmla="*/ 2727971 w 3686667"/>
              <a:gd name="connsiteY3" fmla="*/ 2635221 h 5758271"/>
              <a:gd name="connsiteX4" fmla="*/ 3642371 w 3686667"/>
              <a:gd name="connsiteY4" fmla="*/ 3416618 h 5758271"/>
              <a:gd name="connsiteX5" fmla="*/ 3226735 w 3686667"/>
              <a:gd name="connsiteY5" fmla="*/ 5644429 h 5758271"/>
              <a:gd name="connsiteX6" fmla="*/ 550037 w 3686667"/>
              <a:gd name="connsiteY6" fmla="*/ 5262043 h 5758271"/>
              <a:gd name="connsiteX7" fmla="*/ 1397 w 3686667"/>
              <a:gd name="connsiteY7" fmla="*/ 3782378 h 5758271"/>
              <a:gd name="connsiteX8" fmla="*/ 383782 w 3686667"/>
              <a:gd name="connsiteY8" fmla="*/ 2701723 h 5758271"/>
              <a:gd name="connsiteX9" fmla="*/ 101149 w 3686667"/>
              <a:gd name="connsiteY9" fmla="*/ 2003454 h 5758271"/>
              <a:gd name="connsiteX10" fmla="*/ 915797 w 3686667"/>
              <a:gd name="connsiteY10" fmla="*/ 706669 h 5758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86667" h="5758271">
                <a:moveTo>
                  <a:pt x="915797" y="706669"/>
                </a:moveTo>
                <a:cubicBezTo>
                  <a:pt x="1176262" y="374160"/>
                  <a:pt x="1309266" y="-66414"/>
                  <a:pt x="1663942" y="8400"/>
                </a:cubicBezTo>
                <a:cubicBezTo>
                  <a:pt x="2018618" y="83214"/>
                  <a:pt x="2866517" y="717752"/>
                  <a:pt x="3043855" y="1155556"/>
                </a:cubicBezTo>
                <a:cubicBezTo>
                  <a:pt x="3221193" y="1593360"/>
                  <a:pt x="2628218" y="2258377"/>
                  <a:pt x="2727971" y="2635221"/>
                </a:cubicBezTo>
                <a:cubicBezTo>
                  <a:pt x="2827724" y="3012065"/>
                  <a:pt x="3559244" y="2915083"/>
                  <a:pt x="3642371" y="3416618"/>
                </a:cubicBezTo>
                <a:cubicBezTo>
                  <a:pt x="3725498" y="3918153"/>
                  <a:pt x="3742124" y="5336858"/>
                  <a:pt x="3226735" y="5644429"/>
                </a:cubicBezTo>
                <a:cubicBezTo>
                  <a:pt x="2711346" y="5952000"/>
                  <a:pt x="1087593" y="5572385"/>
                  <a:pt x="550037" y="5262043"/>
                </a:cubicBezTo>
                <a:cubicBezTo>
                  <a:pt x="12481" y="4951701"/>
                  <a:pt x="29106" y="4209098"/>
                  <a:pt x="1397" y="3782378"/>
                </a:cubicBezTo>
                <a:cubicBezTo>
                  <a:pt x="-26312" y="3355658"/>
                  <a:pt x="367157" y="2998210"/>
                  <a:pt x="383782" y="2701723"/>
                </a:cubicBezTo>
                <a:cubicBezTo>
                  <a:pt x="400407" y="2405236"/>
                  <a:pt x="12480" y="2341505"/>
                  <a:pt x="101149" y="2003454"/>
                </a:cubicBezTo>
                <a:cubicBezTo>
                  <a:pt x="189818" y="1665403"/>
                  <a:pt x="655332" y="1039178"/>
                  <a:pt x="915797" y="706669"/>
                </a:cubicBezTo>
                <a:close/>
              </a:path>
            </a:pathLst>
          </a:custGeom>
          <a:solidFill>
            <a:srgbClr val="53AE6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7603C44-C467-0D95-869F-7CC8FF0EB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141413"/>
                </a:solidFill>
                <a:effectLst/>
                <a:latin typeface="+mj-ea"/>
              </a:rPr>
              <a:t>Introduction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765C744-47C2-5DF9-7F8C-21F6379B1628}"/>
              </a:ext>
            </a:extLst>
          </p:cNvPr>
          <p:cNvSpPr/>
          <p:nvPr/>
        </p:nvSpPr>
        <p:spPr>
          <a:xfrm>
            <a:off x="4880340" y="3040612"/>
            <a:ext cx="2431319" cy="105513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attitude</a:t>
            </a:r>
          </a:p>
        </p:txBody>
      </p:sp>
      <p:sp>
        <p:nvSpPr>
          <p:cNvPr id="8" name="圆角矩形标注 7">
            <a:extLst>
              <a:ext uri="{FF2B5EF4-FFF2-40B4-BE49-F238E27FC236}">
                <a16:creationId xmlns:a16="http://schemas.microsoft.com/office/drawing/2014/main" id="{FCBD83A0-167F-84CD-1E04-69437FC9B6C7}"/>
              </a:ext>
            </a:extLst>
          </p:cNvPr>
          <p:cNvSpPr/>
          <p:nvPr/>
        </p:nvSpPr>
        <p:spPr>
          <a:xfrm>
            <a:off x="1246547" y="4607563"/>
            <a:ext cx="3633793" cy="1282074"/>
          </a:xfrm>
          <a:prstGeom prst="wedgeRoundRectCallout">
            <a:avLst>
              <a:gd name="adj1" fmla="val 40806"/>
              <a:gd name="adj2" fmla="val -83604"/>
              <a:gd name="adj3" fmla="val 16667"/>
            </a:avLst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好，但</a:t>
            </a:r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有时也坏坏</a:t>
            </a:r>
          </a:p>
        </p:txBody>
      </p:sp>
      <p:sp>
        <p:nvSpPr>
          <p:cNvPr id="10" name="圆角矩形标注 9">
            <a:extLst>
              <a:ext uri="{FF2B5EF4-FFF2-40B4-BE49-F238E27FC236}">
                <a16:creationId xmlns:a16="http://schemas.microsoft.com/office/drawing/2014/main" id="{A6388776-8FBF-2842-224F-FE2638A524AD}"/>
              </a:ext>
            </a:extLst>
          </p:cNvPr>
          <p:cNvSpPr/>
          <p:nvPr/>
        </p:nvSpPr>
        <p:spPr>
          <a:xfrm>
            <a:off x="1616617" y="2373098"/>
            <a:ext cx="2893651" cy="1055902"/>
          </a:xfrm>
          <a:prstGeom prst="wedgeRoundRectCallout">
            <a:avLst>
              <a:gd name="adj1" fmla="val 44428"/>
              <a:gd name="adj2" fmla="val 74318"/>
              <a:gd name="adj3" fmla="val 16667"/>
            </a:avLst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j-ea"/>
                <a:ea typeface="+mj-ea"/>
              </a:rPr>
              <a:t>呵呵，不怎么样</a:t>
            </a:r>
          </a:p>
        </p:txBody>
      </p:sp>
      <p:sp>
        <p:nvSpPr>
          <p:cNvPr id="11" name="圆角矩形标注 10">
            <a:extLst>
              <a:ext uri="{FF2B5EF4-FFF2-40B4-BE49-F238E27FC236}">
                <a16:creationId xmlns:a16="http://schemas.microsoft.com/office/drawing/2014/main" id="{4DF28F96-2F28-B04D-86FF-E10B417B403D}"/>
              </a:ext>
            </a:extLst>
          </p:cNvPr>
          <p:cNvSpPr/>
          <p:nvPr/>
        </p:nvSpPr>
        <p:spPr>
          <a:xfrm>
            <a:off x="7311659" y="1456377"/>
            <a:ext cx="2637013" cy="1055902"/>
          </a:xfrm>
          <a:prstGeom prst="wedgeRoundRectCallout">
            <a:avLst>
              <a:gd name="adj1" fmla="val -72480"/>
              <a:gd name="adj2" fmla="val 70854"/>
              <a:gd name="adj3" fmla="val 16667"/>
            </a:avLst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j-ea"/>
                <a:ea typeface="+mj-ea"/>
              </a:rPr>
              <a:t>我用不用</a:t>
            </a:r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呢</a:t>
            </a:r>
          </a:p>
        </p:txBody>
      </p:sp>
      <p:sp>
        <p:nvSpPr>
          <p:cNvPr id="12" name="圆角矩形标注 11">
            <a:extLst>
              <a:ext uri="{FF2B5EF4-FFF2-40B4-BE49-F238E27FC236}">
                <a16:creationId xmlns:a16="http://schemas.microsoft.com/office/drawing/2014/main" id="{B4A2AC6B-39D6-F2DE-BD9E-775EA95BFB2A}"/>
              </a:ext>
            </a:extLst>
          </p:cNvPr>
          <p:cNvSpPr/>
          <p:nvPr/>
        </p:nvSpPr>
        <p:spPr>
          <a:xfrm>
            <a:off x="8630165" y="2320718"/>
            <a:ext cx="2799835" cy="1055902"/>
          </a:xfrm>
          <a:prstGeom prst="wedgeRoundRectCallout">
            <a:avLst>
              <a:gd name="adj1" fmla="val -72480"/>
              <a:gd name="adj2" fmla="val 36214"/>
              <a:gd name="adj3" fmla="val 16667"/>
            </a:avLst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j-ea"/>
                <a:ea typeface="+mj-ea"/>
              </a:rPr>
              <a:t>能用就先用着呗</a:t>
            </a:r>
          </a:p>
        </p:txBody>
      </p:sp>
      <p:sp>
        <p:nvSpPr>
          <p:cNvPr id="7" name="圆角矩形标注 6">
            <a:extLst>
              <a:ext uri="{FF2B5EF4-FFF2-40B4-BE49-F238E27FC236}">
                <a16:creationId xmlns:a16="http://schemas.microsoft.com/office/drawing/2014/main" id="{80BBC264-6DBB-6547-6D6E-5ED2E7F7E5D6}"/>
              </a:ext>
            </a:extLst>
          </p:cNvPr>
          <p:cNvSpPr/>
          <p:nvPr/>
        </p:nvSpPr>
        <p:spPr>
          <a:xfrm>
            <a:off x="1246547" y="1468002"/>
            <a:ext cx="2431319" cy="1055902"/>
          </a:xfrm>
          <a:prstGeom prst="wedgeRoundRectCallout">
            <a:avLst>
              <a:gd name="adj1" fmla="val 87725"/>
              <a:gd name="adj2" fmla="val 79514"/>
              <a:gd name="adj3" fmla="val 16667"/>
            </a:avLst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好，</a:t>
            </a:r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妙</a:t>
            </a:r>
          </a:p>
        </p:txBody>
      </p:sp>
      <p:sp>
        <p:nvSpPr>
          <p:cNvPr id="13" name="圆角矩形标注 12">
            <a:extLst>
              <a:ext uri="{FF2B5EF4-FFF2-40B4-BE49-F238E27FC236}">
                <a16:creationId xmlns:a16="http://schemas.microsoft.com/office/drawing/2014/main" id="{F2A6950C-1794-0555-7543-50D9FD515220}"/>
              </a:ext>
            </a:extLst>
          </p:cNvPr>
          <p:cNvSpPr/>
          <p:nvPr/>
        </p:nvSpPr>
        <p:spPr>
          <a:xfrm>
            <a:off x="5899941" y="5126314"/>
            <a:ext cx="3225771" cy="1055138"/>
          </a:xfrm>
          <a:prstGeom prst="wedgeRoundRectCallout">
            <a:avLst>
              <a:gd name="adj1" fmla="val -34337"/>
              <a:gd name="adj2" fmla="val -119664"/>
              <a:gd name="adj3" fmla="val 16667"/>
            </a:avLst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j-ea"/>
                <a:ea typeface="+mj-ea"/>
              </a:rPr>
              <a:t>我对</a:t>
            </a:r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立场坚定</a:t>
            </a:r>
          </a:p>
        </p:txBody>
      </p:sp>
      <p:sp>
        <p:nvSpPr>
          <p:cNvPr id="14" name="圆角矩形标注 13">
            <a:extLst>
              <a:ext uri="{FF2B5EF4-FFF2-40B4-BE49-F238E27FC236}">
                <a16:creationId xmlns:a16="http://schemas.microsoft.com/office/drawing/2014/main" id="{DE85D927-6983-BD38-C0FB-E6FAD25C3247}"/>
              </a:ext>
            </a:extLst>
          </p:cNvPr>
          <p:cNvSpPr/>
          <p:nvPr/>
        </p:nvSpPr>
        <p:spPr>
          <a:xfrm>
            <a:off x="8204229" y="4251467"/>
            <a:ext cx="3225771" cy="1055138"/>
          </a:xfrm>
          <a:prstGeom prst="wedgeRoundRectCallout">
            <a:avLst>
              <a:gd name="adj1" fmla="val -67786"/>
              <a:gd name="adj2" fmla="val -55534"/>
              <a:gd name="adj3" fmla="val 16667"/>
            </a:avLst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j-ea"/>
                <a:ea typeface="+mj-ea"/>
              </a:rPr>
              <a:t>事已至此先睡觉吧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A2539A-D2A8-9BB2-6E75-0F838A9FC6C3}"/>
              </a:ext>
            </a:extLst>
          </p:cNvPr>
          <p:cNvSpPr txBox="1"/>
          <p:nvPr/>
        </p:nvSpPr>
        <p:spPr>
          <a:xfrm>
            <a:off x="1453990" y="3705325"/>
            <a:ext cx="2188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客观矛盾性</a:t>
            </a:r>
            <a:endParaRPr lang="en-US" altLang="zh-CN" sz="2400" b="1" i="0" u="none" strike="noStrike" dirty="0">
              <a:solidFill>
                <a:srgbClr val="0F1115"/>
              </a:solidFill>
              <a:effectLst/>
              <a:latin typeface="+mj-ea"/>
              <a:ea typeface="+mj-ea"/>
            </a:endParaRPr>
          </a:p>
          <a:p>
            <a:pPr algn="ctr"/>
            <a:r>
              <a:rPr lang="en-US" altLang="zh-CN" sz="1200" b="1" i="0" dirty="0">
                <a:solidFill>
                  <a:srgbClr val="0F1115"/>
                </a:solidFill>
                <a:effectLst/>
                <a:latin typeface="+mj-ea"/>
                <a:ea typeface="+mj-ea"/>
              </a:rPr>
              <a:t>Objective</a:t>
            </a:r>
            <a:r>
              <a:rPr lang="zh-CN" altLang="en-US" sz="1200" b="1" dirty="0">
                <a:solidFill>
                  <a:srgbClr val="0F1115"/>
                </a:solidFill>
                <a:latin typeface="+mj-ea"/>
                <a:ea typeface="+mj-ea"/>
              </a:rPr>
              <a:t> </a:t>
            </a:r>
            <a:r>
              <a:rPr lang="en-US" altLang="zh-CN" sz="1200" b="1" i="0" dirty="0">
                <a:solidFill>
                  <a:srgbClr val="0F1115"/>
                </a:solidFill>
                <a:effectLst/>
                <a:latin typeface="+mj-ea"/>
                <a:ea typeface="+mj-ea"/>
              </a:rPr>
              <a:t>Ambivalence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AF7C164-C011-3607-2B6B-84DFF207A0D2}"/>
              </a:ext>
            </a:extLst>
          </p:cNvPr>
          <p:cNvSpPr txBox="1"/>
          <p:nvPr/>
        </p:nvSpPr>
        <p:spPr>
          <a:xfrm>
            <a:off x="4653734" y="1777051"/>
            <a:ext cx="21681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F1115"/>
                </a:solidFill>
                <a:latin typeface="+mj-ea"/>
                <a:ea typeface="+mj-ea"/>
              </a:rPr>
              <a:t>主观</a:t>
            </a:r>
            <a:r>
              <a:rPr lang="zh-CN" altLang="en-US" sz="24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矛盾性</a:t>
            </a:r>
            <a:endParaRPr lang="en-US" altLang="zh-CN" sz="2400" b="1" i="0" u="none" strike="noStrike" dirty="0">
              <a:solidFill>
                <a:srgbClr val="0F1115"/>
              </a:solidFill>
              <a:effectLst/>
              <a:latin typeface="+mj-ea"/>
              <a:ea typeface="+mj-ea"/>
            </a:endParaRPr>
          </a:p>
          <a:p>
            <a:pPr algn="ctr"/>
            <a:r>
              <a:rPr lang="en-US" altLang="zh-CN" sz="1200" b="1" i="0" dirty="0">
                <a:solidFill>
                  <a:srgbClr val="0F1115"/>
                </a:solidFill>
                <a:effectLst/>
                <a:latin typeface="+mj-ea"/>
                <a:ea typeface="+mj-ea"/>
              </a:rPr>
              <a:t>Subjective</a:t>
            </a:r>
            <a:r>
              <a:rPr lang="zh-CN" altLang="en-US" sz="1200" b="1" i="0" dirty="0">
                <a:solidFill>
                  <a:srgbClr val="0F1115"/>
                </a:solidFill>
                <a:effectLst/>
                <a:latin typeface="+mj-ea"/>
                <a:ea typeface="+mj-ea"/>
              </a:rPr>
              <a:t> </a:t>
            </a:r>
            <a:r>
              <a:rPr lang="en-US" altLang="zh-CN" sz="1200" b="1" i="0" dirty="0">
                <a:solidFill>
                  <a:srgbClr val="0F1115"/>
                </a:solidFill>
                <a:effectLst/>
                <a:latin typeface="+mj-ea"/>
                <a:ea typeface="+mj-ea"/>
              </a:rPr>
              <a:t>Ambivalence</a:t>
            </a:r>
          </a:p>
          <a:p>
            <a:pPr algn="ctr"/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315541-77D4-0D7A-1F32-6241F19A4B93}"/>
              </a:ext>
            </a:extLst>
          </p:cNvPr>
          <p:cNvSpPr txBox="1"/>
          <p:nvPr/>
        </p:nvSpPr>
        <p:spPr>
          <a:xfrm>
            <a:off x="9231137" y="5459952"/>
            <a:ext cx="21681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400" b="1" i="0" dirty="0">
                <a:solidFill>
                  <a:srgbClr val="0F1115"/>
                </a:solidFill>
                <a:effectLst/>
                <a:latin typeface="+mj-ea"/>
                <a:ea typeface="+mj-ea"/>
              </a:rPr>
              <a:t>态度确定性</a:t>
            </a:r>
            <a:endParaRPr lang="en-US" altLang="zh-CN" sz="2400" b="1" i="0" dirty="0">
              <a:solidFill>
                <a:srgbClr val="0F1115"/>
              </a:solidFill>
              <a:effectLst/>
              <a:latin typeface="+mj-ea"/>
              <a:ea typeface="+mj-ea"/>
            </a:endParaRPr>
          </a:p>
          <a:p>
            <a:pPr algn="ctr" rtl="0"/>
            <a:r>
              <a:rPr lang="en-US" altLang="zh-CN" sz="1200" b="1" i="0" dirty="0">
                <a:solidFill>
                  <a:srgbClr val="0F1115"/>
                </a:solidFill>
                <a:effectLst/>
                <a:latin typeface="+mj-ea"/>
                <a:ea typeface="+mj-ea"/>
              </a:rPr>
              <a:t>Certainty</a:t>
            </a:r>
          </a:p>
          <a:p>
            <a:pPr algn="ctr"/>
            <a:endParaRPr lang="zh-CN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51133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4" grpId="0" animBg="1"/>
      <p:bldP spid="22" grpId="0" animBg="1"/>
      <p:bldP spid="8" grpId="0" animBg="1"/>
      <p:bldP spid="10" grpId="0" animBg="1"/>
      <p:bldP spid="11" grpId="0" animBg="1"/>
      <p:bldP spid="12" grpId="0" animBg="1"/>
      <p:bldP spid="7" grpId="0" animBg="1"/>
      <p:bldP spid="13" grpId="0" animBg="1"/>
      <p:bldP spid="14" grpId="0" animBg="1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D99C41BD-180F-B85D-FA19-A122BE63FB41}"/>
              </a:ext>
            </a:extLst>
          </p:cNvPr>
          <p:cNvCxnSpPr>
            <a:cxnSpLocks/>
          </p:cNvCxnSpPr>
          <p:nvPr/>
        </p:nvCxnSpPr>
        <p:spPr>
          <a:xfrm>
            <a:off x="4366191" y="5144002"/>
            <a:ext cx="679335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EC911833-1126-2B9B-CEE6-E5119637FF04}"/>
              </a:ext>
            </a:extLst>
          </p:cNvPr>
          <p:cNvSpPr/>
          <p:nvPr/>
        </p:nvSpPr>
        <p:spPr>
          <a:xfrm>
            <a:off x="1302981" y="1418827"/>
            <a:ext cx="2738171" cy="5040243"/>
          </a:xfrm>
          <a:prstGeom prst="roundRect">
            <a:avLst>
              <a:gd name="adj" fmla="val 1271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1416624-4BB4-9DB8-41FB-61531078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141413"/>
                </a:solidFill>
                <a:effectLst/>
                <a:latin typeface="+mj-ea"/>
              </a:rPr>
              <a:t>Introduction</a:t>
            </a:r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96F342F-4675-1B3A-27EC-C938DEC9C450}"/>
              </a:ext>
            </a:extLst>
          </p:cNvPr>
          <p:cNvSpPr/>
          <p:nvPr/>
        </p:nvSpPr>
        <p:spPr>
          <a:xfrm>
            <a:off x="1430973" y="1736943"/>
            <a:ext cx="2431319" cy="719907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好，</a:t>
            </a:r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妙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3AD418E-0751-3B9C-0D85-B455AE6577C2}"/>
              </a:ext>
            </a:extLst>
          </p:cNvPr>
          <p:cNvSpPr/>
          <p:nvPr/>
        </p:nvSpPr>
        <p:spPr>
          <a:xfrm>
            <a:off x="4777327" y="1736942"/>
            <a:ext cx="3225771" cy="719386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j-ea"/>
                <a:ea typeface="+mj-ea"/>
              </a:rPr>
              <a:t>我对</a:t>
            </a:r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立场坚定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E5BBB3-D2A0-315F-C98E-027EAF566F13}"/>
              </a:ext>
            </a:extLst>
          </p:cNvPr>
          <p:cNvSpPr txBox="1"/>
          <p:nvPr/>
        </p:nvSpPr>
        <p:spPr>
          <a:xfrm>
            <a:off x="1606726" y="2456329"/>
            <a:ext cx="207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4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低客观矛盾性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0AB47B-832E-8DA9-7B29-A324B77FF4B6}"/>
              </a:ext>
            </a:extLst>
          </p:cNvPr>
          <p:cNvSpPr txBox="1"/>
          <p:nvPr/>
        </p:nvSpPr>
        <p:spPr>
          <a:xfrm>
            <a:off x="5350306" y="2456327"/>
            <a:ext cx="207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4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高确定性</a:t>
            </a:r>
          </a:p>
        </p:txBody>
      </p:sp>
      <p:sp>
        <p:nvSpPr>
          <p:cNvPr id="11" name="加号 10">
            <a:extLst>
              <a:ext uri="{FF2B5EF4-FFF2-40B4-BE49-F238E27FC236}">
                <a16:creationId xmlns:a16="http://schemas.microsoft.com/office/drawing/2014/main" id="{911260AF-FBAC-4B92-8911-58390DDD64F6}"/>
              </a:ext>
            </a:extLst>
          </p:cNvPr>
          <p:cNvSpPr/>
          <p:nvPr/>
        </p:nvSpPr>
        <p:spPr>
          <a:xfrm>
            <a:off x="3971540" y="1736942"/>
            <a:ext cx="719386" cy="719386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等于 11">
            <a:extLst>
              <a:ext uri="{FF2B5EF4-FFF2-40B4-BE49-F238E27FC236}">
                <a16:creationId xmlns:a16="http://schemas.microsoft.com/office/drawing/2014/main" id="{4655C584-D61E-28AD-279F-32EAAD9421DA}"/>
              </a:ext>
            </a:extLst>
          </p:cNvPr>
          <p:cNvSpPr/>
          <p:nvPr/>
        </p:nvSpPr>
        <p:spPr>
          <a:xfrm>
            <a:off x="8166293" y="1736942"/>
            <a:ext cx="733164" cy="719386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1071AB-FAFA-0456-D802-0E065D775C13}"/>
              </a:ext>
            </a:extLst>
          </p:cNvPr>
          <p:cNvSpPr txBox="1"/>
          <p:nvPr/>
        </p:nvSpPr>
        <p:spPr>
          <a:xfrm>
            <a:off x="9062652" y="1844516"/>
            <a:ext cx="20798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态度稳定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B3FBE65-E61E-030C-3630-8361495040BA}"/>
              </a:ext>
            </a:extLst>
          </p:cNvPr>
          <p:cNvSpPr/>
          <p:nvPr/>
        </p:nvSpPr>
        <p:spPr>
          <a:xfrm>
            <a:off x="1430973" y="3219565"/>
            <a:ext cx="2431319" cy="719907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好，</a:t>
            </a:r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坏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DE220CA-A432-7D0D-411F-79CCDA46413A}"/>
              </a:ext>
            </a:extLst>
          </p:cNvPr>
          <p:cNvSpPr/>
          <p:nvPr/>
        </p:nvSpPr>
        <p:spPr>
          <a:xfrm>
            <a:off x="4777327" y="3219564"/>
            <a:ext cx="3225771" cy="719386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j-ea"/>
                <a:ea typeface="+mj-ea"/>
              </a:rPr>
              <a:t>我对</a:t>
            </a:r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立场坚定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F42656-AE9B-82EA-A39A-985535C17424}"/>
              </a:ext>
            </a:extLst>
          </p:cNvPr>
          <p:cNvSpPr txBox="1"/>
          <p:nvPr/>
        </p:nvSpPr>
        <p:spPr>
          <a:xfrm>
            <a:off x="1606726" y="3938951"/>
            <a:ext cx="207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4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客观矛盾性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BAD62FE-37AC-CEC2-BDE6-428606CDBDF7}"/>
              </a:ext>
            </a:extLst>
          </p:cNvPr>
          <p:cNvSpPr txBox="1"/>
          <p:nvPr/>
        </p:nvSpPr>
        <p:spPr>
          <a:xfrm>
            <a:off x="5350306" y="3938949"/>
            <a:ext cx="207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4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高确定性</a:t>
            </a:r>
          </a:p>
        </p:txBody>
      </p:sp>
      <p:sp>
        <p:nvSpPr>
          <p:cNvPr id="18" name="加号 17">
            <a:extLst>
              <a:ext uri="{FF2B5EF4-FFF2-40B4-BE49-F238E27FC236}">
                <a16:creationId xmlns:a16="http://schemas.microsoft.com/office/drawing/2014/main" id="{68034391-9131-93F3-4305-3F53E72D3440}"/>
              </a:ext>
            </a:extLst>
          </p:cNvPr>
          <p:cNvSpPr/>
          <p:nvPr/>
        </p:nvSpPr>
        <p:spPr>
          <a:xfrm>
            <a:off x="3971540" y="3219564"/>
            <a:ext cx="719386" cy="719386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等于 18">
            <a:extLst>
              <a:ext uri="{FF2B5EF4-FFF2-40B4-BE49-F238E27FC236}">
                <a16:creationId xmlns:a16="http://schemas.microsoft.com/office/drawing/2014/main" id="{4E3179DE-4D1E-E9FD-212A-0121AA0BA5EF}"/>
              </a:ext>
            </a:extLst>
          </p:cNvPr>
          <p:cNvSpPr/>
          <p:nvPr/>
        </p:nvSpPr>
        <p:spPr>
          <a:xfrm>
            <a:off x="8166293" y="3219564"/>
            <a:ext cx="733164" cy="719386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26003FF-E20B-EE7A-6ABC-7FF8CB68DF9E}"/>
              </a:ext>
            </a:extLst>
          </p:cNvPr>
          <p:cNvSpPr txBox="1"/>
          <p:nvPr/>
        </p:nvSpPr>
        <p:spPr>
          <a:xfrm>
            <a:off x="9062652" y="3327138"/>
            <a:ext cx="20798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态度不稳定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931FF9-9356-85C0-DB9C-DE21ECD9A7B5}"/>
              </a:ext>
            </a:extLst>
          </p:cNvPr>
          <p:cNvSpPr txBox="1"/>
          <p:nvPr/>
        </p:nvSpPr>
        <p:spPr>
          <a:xfrm>
            <a:off x="1606726" y="4581818"/>
            <a:ext cx="2079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sz="3600" b="1" i="0" dirty="0">
                <a:solidFill>
                  <a:srgbClr val="53AE6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VS</a:t>
            </a:r>
            <a:endParaRPr lang="zh-CN" altLang="en-US" sz="3600" b="1" i="0" dirty="0">
              <a:solidFill>
                <a:srgbClr val="53AE6E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17C0E12-F177-5965-2D8C-0441111221E4}"/>
              </a:ext>
            </a:extLst>
          </p:cNvPr>
          <p:cNvSpPr txBox="1"/>
          <p:nvPr/>
        </p:nvSpPr>
        <p:spPr>
          <a:xfrm>
            <a:off x="1608923" y="5381944"/>
            <a:ext cx="20798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主观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矛盾性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859092D-C96D-051E-AC4C-28CFC4BCA3D0}"/>
              </a:ext>
            </a:extLst>
          </p:cNvPr>
          <p:cNvGrpSpPr/>
          <p:nvPr/>
        </p:nvGrpSpPr>
        <p:grpSpPr>
          <a:xfrm>
            <a:off x="4945756" y="4635300"/>
            <a:ext cx="1049070" cy="1017403"/>
            <a:chOff x="4690926" y="4453027"/>
            <a:chExt cx="1664532" cy="1592298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2AF70ECF-E9D6-E0F5-2F07-0E3C8F4A1BD5}"/>
                </a:ext>
              </a:extLst>
            </p:cNvPr>
            <p:cNvSpPr/>
            <p:nvPr/>
          </p:nvSpPr>
          <p:spPr>
            <a:xfrm>
              <a:off x="4690926" y="4453027"/>
              <a:ext cx="1664532" cy="159229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Google Shape;7535;p95">
              <a:extLst>
                <a:ext uri="{FF2B5EF4-FFF2-40B4-BE49-F238E27FC236}">
                  <a16:creationId xmlns:a16="http://schemas.microsoft.com/office/drawing/2014/main" id="{C144164B-121C-7B54-400E-3E429E22C1A5}"/>
                </a:ext>
              </a:extLst>
            </p:cNvPr>
            <p:cNvSpPr/>
            <p:nvPr/>
          </p:nvSpPr>
          <p:spPr>
            <a:xfrm>
              <a:off x="5027943" y="4738912"/>
              <a:ext cx="1076757" cy="870920"/>
            </a:xfrm>
            <a:custGeom>
              <a:avLst/>
              <a:gdLst/>
              <a:ahLst/>
              <a:cxnLst/>
              <a:rect l="l" t="t" r="r" b="b"/>
              <a:pathLst>
                <a:path w="15029" h="12634" extrusionOk="0">
                  <a:moveTo>
                    <a:pt x="10155" y="885"/>
                  </a:moveTo>
                  <a:cubicBezTo>
                    <a:pt x="10393" y="885"/>
                    <a:pt x="10643" y="915"/>
                    <a:pt x="10901" y="977"/>
                  </a:cubicBezTo>
                  <a:cubicBezTo>
                    <a:pt x="10586" y="2332"/>
                    <a:pt x="9546" y="2994"/>
                    <a:pt x="8475" y="3025"/>
                  </a:cubicBezTo>
                  <a:lnTo>
                    <a:pt x="8444" y="3025"/>
                  </a:lnTo>
                  <a:cubicBezTo>
                    <a:pt x="8192" y="3025"/>
                    <a:pt x="7971" y="2994"/>
                    <a:pt x="7719" y="2899"/>
                  </a:cubicBezTo>
                  <a:cubicBezTo>
                    <a:pt x="8009" y="1661"/>
                    <a:pt x="8937" y="885"/>
                    <a:pt x="10155" y="885"/>
                  </a:cubicBezTo>
                  <a:close/>
                  <a:moveTo>
                    <a:pt x="9924" y="4348"/>
                  </a:moveTo>
                  <a:cubicBezTo>
                    <a:pt x="10271" y="4443"/>
                    <a:pt x="11122" y="5262"/>
                    <a:pt x="11122" y="6648"/>
                  </a:cubicBezTo>
                  <a:cubicBezTo>
                    <a:pt x="11122" y="7247"/>
                    <a:pt x="10996" y="7845"/>
                    <a:pt x="10807" y="8381"/>
                  </a:cubicBezTo>
                  <a:cubicBezTo>
                    <a:pt x="10744" y="8538"/>
                    <a:pt x="10555" y="8664"/>
                    <a:pt x="10397" y="8664"/>
                  </a:cubicBezTo>
                  <a:cubicBezTo>
                    <a:pt x="10176" y="8664"/>
                    <a:pt x="9956" y="8475"/>
                    <a:pt x="9956" y="8223"/>
                  </a:cubicBezTo>
                  <a:cubicBezTo>
                    <a:pt x="9956" y="8066"/>
                    <a:pt x="10807" y="6050"/>
                    <a:pt x="9641" y="5136"/>
                  </a:cubicBezTo>
                  <a:cubicBezTo>
                    <a:pt x="9546" y="5073"/>
                    <a:pt x="9483" y="4947"/>
                    <a:pt x="9483" y="4789"/>
                  </a:cubicBezTo>
                  <a:cubicBezTo>
                    <a:pt x="9483" y="4569"/>
                    <a:pt x="9704" y="4348"/>
                    <a:pt x="9924" y="4348"/>
                  </a:cubicBezTo>
                  <a:close/>
                  <a:moveTo>
                    <a:pt x="10176" y="1"/>
                  </a:moveTo>
                  <a:cubicBezTo>
                    <a:pt x="8948" y="1"/>
                    <a:pt x="7688" y="631"/>
                    <a:pt x="7089" y="2048"/>
                  </a:cubicBezTo>
                  <a:cubicBezTo>
                    <a:pt x="6711" y="1450"/>
                    <a:pt x="6270" y="1166"/>
                    <a:pt x="5734" y="914"/>
                  </a:cubicBezTo>
                  <a:cubicBezTo>
                    <a:pt x="5659" y="879"/>
                    <a:pt x="5588" y="863"/>
                    <a:pt x="5522" y="863"/>
                  </a:cubicBezTo>
                  <a:cubicBezTo>
                    <a:pt x="5118" y="863"/>
                    <a:pt x="4923" y="1449"/>
                    <a:pt x="5356" y="1639"/>
                  </a:cubicBezTo>
                  <a:cubicBezTo>
                    <a:pt x="5986" y="1954"/>
                    <a:pt x="6459" y="2363"/>
                    <a:pt x="6711" y="3151"/>
                  </a:cubicBezTo>
                  <a:cubicBezTo>
                    <a:pt x="6207" y="2836"/>
                    <a:pt x="5797" y="2489"/>
                    <a:pt x="5199" y="2489"/>
                  </a:cubicBezTo>
                  <a:cubicBezTo>
                    <a:pt x="4537" y="2521"/>
                    <a:pt x="3718" y="2868"/>
                    <a:pt x="2993" y="3529"/>
                  </a:cubicBezTo>
                  <a:cubicBezTo>
                    <a:pt x="0" y="6491"/>
                    <a:pt x="3182" y="12634"/>
                    <a:pt x="5514" y="12634"/>
                  </a:cubicBezTo>
                  <a:cubicBezTo>
                    <a:pt x="5829" y="12634"/>
                    <a:pt x="6144" y="12571"/>
                    <a:pt x="6427" y="12350"/>
                  </a:cubicBezTo>
                  <a:cubicBezTo>
                    <a:pt x="6821" y="12098"/>
                    <a:pt x="7050" y="11972"/>
                    <a:pt x="7278" y="11972"/>
                  </a:cubicBezTo>
                  <a:cubicBezTo>
                    <a:pt x="7506" y="11972"/>
                    <a:pt x="7735" y="12098"/>
                    <a:pt x="8129" y="12350"/>
                  </a:cubicBezTo>
                  <a:cubicBezTo>
                    <a:pt x="8412" y="12571"/>
                    <a:pt x="8727" y="12634"/>
                    <a:pt x="9042" y="12634"/>
                  </a:cubicBezTo>
                  <a:cubicBezTo>
                    <a:pt x="11594" y="12634"/>
                    <a:pt x="15028" y="5325"/>
                    <a:pt x="10712" y="2899"/>
                  </a:cubicBezTo>
                  <a:cubicBezTo>
                    <a:pt x="11405" y="2237"/>
                    <a:pt x="11815" y="1261"/>
                    <a:pt x="11815" y="662"/>
                  </a:cubicBezTo>
                  <a:cubicBezTo>
                    <a:pt x="11815" y="505"/>
                    <a:pt x="11720" y="347"/>
                    <a:pt x="11563" y="284"/>
                  </a:cubicBezTo>
                  <a:cubicBezTo>
                    <a:pt x="11090" y="127"/>
                    <a:pt x="10649" y="1"/>
                    <a:pt x="1017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E1E21AE-2546-97F7-2406-A7A3694DBDD6}"/>
              </a:ext>
            </a:extLst>
          </p:cNvPr>
          <p:cNvGrpSpPr/>
          <p:nvPr/>
        </p:nvGrpSpPr>
        <p:grpSpPr>
          <a:xfrm>
            <a:off x="7106037" y="4635299"/>
            <a:ext cx="1049070" cy="1017403"/>
            <a:chOff x="6871908" y="4453027"/>
            <a:chExt cx="1664532" cy="1592298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90A79BA1-869C-8DD0-8069-F6BE6F4DE9BF}"/>
                </a:ext>
              </a:extLst>
            </p:cNvPr>
            <p:cNvSpPr/>
            <p:nvPr/>
          </p:nvSpPr>
          <p:spPr>
            <a:xfrm>
              <a:off x="6871908" y="4453027"/>
              <a:ext cx="1664532" cy="159229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25" name="Google Shape;9049;p98">
              <a:extLst>
                <a:ext uri="{FF2B5EF4-FFF2-40B4-BE49-F238E27FC236}">
                  <a16:creationId xmlns:a16="http://schemas.microsoft.com/office/drawing/2014/main" id="{4D10F68C-483D-58FD-A187-482B8AE8984B}"/>
                </a:ext>
              </a:extLst>
            </p:cNvPr>
            <p:cNvGrpSpPr/>
            <p:nvPr/>
          </p:nvGrpSpPr>
          <p:grpSpPr>
            <a:xfrm>
              <a:off x="7347133" y="4848608"/>
              <a:ext cx="880512" cy="839028"/>
              <a:chOff x="-49766550" y="3920175"/>
              <a:chExt cx="303250" cy="300325"/>
            </a:xfrm>
            <a:solidFill>
              <a:schemeClr val="bg1"/>
            </a:solidFill>
          </p:grpSpPr>
          <p:sp>
            <p:nvSpPr>
              <p:cNvPr id="26" name="Google Shape;9050;p98">
                <a:extLst>
                  <a:ext uri="{FF2B5EF4-FFF2-40B4-BE49-F238E27FC236}">
                    <a16:creationId xmlns:a16="http://schemas.microsoft.com/office/drawing/2014/main" id="{B5470B1B-4F2D-9619-FB66-E57A409BE372}"/>
                  </a:ext>
                </a:extLst>
              </p:cNvPr>
              <p:cNvSpPr/>
              <p:nvPr/>
            </p:nvSpPr>
            <p:spPr>
              <a:xfrm>
                <a:off x="-49764975" y="3920175"/>
                <a:ext cx="228425" cy="89225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3568" extrusionOk="0">
                    <a:moveTo>
                      <a:pt x="4568" y="1"/>
                    </a:moveTo>
                    <a:cubicBezTo>
                      <a:pt x="2284" y="1"/>
                      <a:pt x="0" y="592"/>
                      <a:pt x="0" y="1773"/>
                    </a:cubicBezTo>
                    <a:cubicBezTo>
                      <a:pt x="0" y="2970"/>
                      <a:pt x="2300" y="3569"/>
                      <a:pt x="4568" y="3569"/>
                    </a:cubicBezTo>
                    <a:cubicBezTo>
                      <a:pt x="6837" y="3569"/>
                      <a:pt x="9137" y="2970"/>
                      <a:pt x="9137" y="1773"/>
                    </a:cubicBezTo>
                    <a:cubicBezTo>
                      <a:pt x="9137" y="592"/>
                      <a:pt x="6852" y="1"/>
                      <a:pt x="456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051;p98">
                <a:extLst>
                  <a:ext uri="{FF2B5EF4-FFF2-40B4-BE49-F238E27FC236}">
                    <a16:creationId xmlns:a16="http://schemas.microsoft.com/office/drawing/2014/main" id="{131811CC-9AA5-5E89-C2C8-FF5B8E449F52}"/>
                  </a:ext>
                </a:extLst>
              </p:cNvPr>
              <p:cNvSpPr/>
              <p:nvPr/>
            </p:nvSpPr>
            <p:spPr>
              <a:xfrm>
                <a:off x="-49764975" y="3998350"/>
                <a:ext cx="141775" cy="115800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4632" extrusionOk="0">
                    <a:moveTo>
                      <a:pt x="0" y="1"/>
                    </a:moveTo>
                    <a:lnTo>
                      <a:pt x="0" y="3939"/>
                    </a:lnTo>
                    <a:cubicBezTo>
                      <a:pt x="0" y="4317"/>
                      <a:pt x="315" y="4632"/>
                      <a:pt x="693" y="4632"/>
                    </a:cubicBezTo>
                    <a:cubicBezTo>
                      <a:pt x="1103" y="4632"/>
                      <a:pt x="1418" y="4317"/>
                      <a:pt x="1418" y="3939"/>
                    </a:cubicBezTo>
                    <a:lnTo>
                      <a:pt x="1418" y="2868"/>
                    </a:lnTo>
                    <a:cubicBezTo>
                      <a:pt x="1418" y="2269"/>
                      <a:pt x="1890" y="1796"/>
                      <a:pt x="2457" y="1796"/>
                    </a:cubicBezTo>
                    <a:cubicBezTo>
                      <a:pt x="3056" y="1796"/>
                      <a:pt x="3529" y="2269"/>
                      <a:pt x="3529" y="2868"/>
                    </a:cubicBezTo>
                    <a:lnTo>
                      <a:pt x="3529" y="3592"/>
                    </a:lnTo>
                    <a:cubicBezTo>
                      <a:pt x="3529" y="3781"/>
                      <a:pt x="3686" y="3939"/>
                      <a:pt x="3875" y="3939"/>
                    </a:cubicBezTo>
                    <a:cubicBezTo>
                      <a:pt x="4096" y="3939"/>
                      <a:pt x="4253" y="3781"/>
                      <a:pt x="4253" y="3592"/>
                    </a:cubicBezTo>
                    <a:lnTo>
                      <a:pt x="4253" y="2868"/>
                    </a:lnTo>
                    <a:cubicBezTo>
                      <a:pt x="4253" y="2427"/>
                      <a:pt x="4568" y="1954"/>
                      <a:pt x="5041" y="1828"/>
                    </a:cubicBezTo>
                    <a:cubicBezTo>
                      <a:pt x="5104" y="1796"/>
                      <a:pt x="5198" y="1796"/>
                      <a:pt x="5293" y="1796"/>
                    </a:cubicBezTo>
                    <a:cubicBezTo>
                      <a:pt x="5513" y="1796"/>
                      <a:pt x="5671" y="1639"/>
                      <a:pt x="5671" y="1450"/>
                    </a:cubicBezTo>
                    <a:lnTo>
                      <a:pt x="5671" y="1040"/>
                    </a:lnTo>
                    <a:cubicBezTo>
                      <a:pt x="5293" y="1103"/>
                      <a:pt x="4946" y="1103"/>
                      <a:pt x="4600" y="1103"/>
                    </a:cubicBezTo>
                    <a:cubicBezTo>
                      <a:pt x="2899" y="1103"/>
                      <a:pt x="1008" y="788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052;p98">
                <a:extLst>
                  <a:ext uri="{FF2B5EF4-FFF2-40B4-BE49-F238E27FC236}">
                    <a16:creationId xmlns:a16="http://schemas.microsoft.com/office/drawing/2014/main" id="{951DF5E6-A7F9-3426-3514-9F3012FE3415}"/>
                  </a:ext>
                </a:extLst>
              </p:cNvPr>
              <p:cNvSpPr/>
              <p:nvPr/>
            </p:nvSpPr>
            <p:spPr>
              <a:xfrm>
                <a:off x="-49627151" y="3996000"/>
                <a:ext cx="163850" cy="148100"/>
              </a:xfrm>
              <a:custGeom>
                <a:avLst/>
                <a:gdLst/>
                <a:ahLst/>
                <a:cxnLst/>
                <a:rect l="l" t="t" r="r" b="b"/>
                <a:pathLst>
                  <a:path w="6554" h="5924" extrusionOk="0">
                    <a:moveTo>
                      <a:pt x="3655" y="725"/>
                    </a:moveTo>
                    <a:cubicBezTo>
                      <a:pt x="4348" y="1040"/>
                      <a:pt x="5041" y="1544"/>
                      <a:pt x="5451" y="2206"/>
                    </a:cubicBezTo>
                    <a:cubicBezTo>
                      <a:pt x="5766" y="2678"/>
                      <a:pt x="5860" y="3308"/>
                      <a:pt x="5671" y="3875"/>
                    </a:cubicBezTo>
                    <a:cubicBezTo>
                      <a:pt x="5451" y="4411"/>
                      <a:pt x="5041" y="4852"/>
                      <a:pt x="4443" y="5041"/>
                    </a:cubicBezTo>
                    <a:cubicBezTo>
                      <a:pt x="4171" y="5132"/>
                      <a:pt x="3899" y="5193"/>
                      <a:pt x="3655" y="5198"/>
                    </a:cubicBezTo>
                    <a:lnTo>
                      <a:pt x="3655" y="5198"/>
                    </a:lnTo>
                    <a:lnTo>
                      <a:pt x="3655" y="725"/>
                    </a:lnTo>
                    <a:close/>
                    <a:moveTo>
                      <a:pt x="3718" y="0"/>
                    </a:moveTo>
                    <a:cubicBezTo>
                      <a:pt x="3088" y="599"/>
                      <a:pt x="1985" y="914"/>
                      <a:pt x="820" y="1071"/>
                    </a:cubicBezTo>
                    <a:lnTo>
                      <a:pt x="820" y="1544"/>
                    </a:lnTo>
                    <a:cubicBezTo>
                      <a:pt x="820" y="2048"/>
                      <a:pt x="473" y="2489"/>
                      <a:pt x="0" y="2584"/>
                    </a:cubicBezTo>
                    <a:lnTo>
                      <a:pt x="1009" y="3938"/>
                    </a:lnTo>
                    <a:cubicBezTo>
                      <a:pt x="1619" y="4793"/>
                      <a:pt x="2554" y="5263"/>
                      <a:pt x="3557" y="5263"/>
                    </a:cubicBezTo>
                    <a:cubicBezTo>
                      <a:pt x="3579" y="5263"/>
                      <a:pt x="3601" y="5263"/>
                      <a:pt x="3624" y="5262"/>
                    </a:cubicBezTo>
                    <a:lnTo>
                      <a:pt x="3624" y="5262"/>
                    </a:lnTo>
                    <a:lnTo>
                      <a:pt x="3624" y="5923"/>
                    </a:lnTo>
                    <a:cubicBezTo>
                      <a:pt x="3970" y="5923"/>
                      <a:pt x="4317" y="5829"/>
                      <a:pt x="4632" y="5734"/>
                    </a:cubicBezTo>
                    <a:cubicBezTo>
                      <a:pt x="5419" y="5451"/>
                      <a:pt x="6018" y="4852"/>
                      <a:pt x="6301" y="4096"/>
                    </a:cubicBezTo>
                    <a:cubicBezTo>
                      <a:pt x="6553" y="3371"/>
                      <a:pt x="6459" y="2521"/>
                      <a:pt x="6018" y="1859"/>
                    </a:cubicBezTo>
                    <a:cubicBezTo>
                      <a:pt x="5451" y="1040"/>
                      <a:pt x="4632" y="410"/>
                      <a:pt x="37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053;p98">
                <a:extLst>
                  <a:ext uri="{FF2B5EF4-FFF2-40B4-BE49-F238E27FC236}">
                    <a16:creationId xmlns:a16="http://schemas.microsoft.com/office/drawing/2014/main" id="{A8059815-3A85-816A-68FB-69D6A3D18DC8}"/>
                  </a:ext>
                </a:extLst>
              </p:cNvPr>
              <p:cNvSpPr/>
              <p:nvPr/>
            </p:nvSpPr>
            <p:spPr>
              <a:xfrm>
                <a:off x="-49766550" y="4061375"/>
                <a:ext cx="2300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9200" h="6365" extrusionOk="0">
                    <a:moveTo>
                      <a:pt x="2489" y="0"/>
                    </a:moveTo>
                    <a:cubicBezTo>
                      <a:pt x="2300" y="0"/>
                      <a:pt x="2142" y="158"/>
                      <a:pt x="2142" y="347"/>
                    </a:cubicBezTo>
                    <a:lnTo>
                      <a:pt x="2142" y="1418"/>
                    </a:lnTo>
                    <a:cubicBezTo>
                      <a:pt x="2142" y="2205"/>
                      <a:pt x="1481" y="2836"/>
                      <a:pt x="725" y="2836"/>
                    </a:cubicBezTo>
                    <a:cubicBezTo>
                      <a:pt x="441" y="2836"/>
                      <a:pt x="221" y="2741"/>
                      <a:pt x="0" y="2647"/>
                    </a:cubicBezTo>
                    <a:lnTo>
                      <a:pt x="0" y="4600"/>
                    </a:lnTo>
                    <a:cubicBezTo>
                      <a:pt x="0" y="5734"/>
                      <a:pt x="2331" y="6364"/>
                      <a:pt x="4631" y="6364"/>
                    </a:cubicBezTo>
                    <a:cubicBezTo>
                      <a:pt x="6900" y="6364"/>
                      <a:pt x="9200" y="5797"/>
                      <a:pt x="9200" y="4600"/>
                    </a:cubicBezTo>
                    <a:lnTo>
                      <a:pt x="9200" y="3340"/>
                    </a:lnTo>
                    <a:cubicBezTo>
                      <a:pt x="9121" y="3353"/>
                      <a:pt x="9033" y="3360"/>
                      <a:pt x="8938" y="3360"/>
                    </a:cubicBezTo>
                    <a:cubicBezTo>
                      <a:pt x="8153" y="3360"/>
                      <a:pt x="6857" y="2888"/>
                      <a:pt x="5986" y="1764"/>
                    </a:cubicBezTo>
                    <a:lnTo>
                      <a:pt x="4978" y="378"/>
                    </a:lnTo>
                    <a:lnTo>
                      <a:pt x="4978" y="1071"/>
                    </a:lnTo>
                    <a:cubicBezTo>
                      <a:pt x="4978" y="1638"/>
                      <a:pt x="4505" y="2111"/>
                      <a:pt x="3907" y="2111"/>
                    </a:cubicBezTo>
                    <a:cubicBezTo>
                      <a:pt x="3308" y="2111"/>
                      <a:pt x="2836" y="1638"/>
                      <a:pt x="2836" y="1071"/>
                    </a:cubicBezTo>
                    <a:lnTo>
                      <a:pt x="2836" y="347"/>
                    </a:lnTo>
                    <a:cubicBezTo>
                      <a:pt x="2836" y="158"/>
                      <a:pt x="2678" y="0"/>
                      <a:pt x="248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D4B5B96-7390-6C08-E6DA-7914DFBB1C72}"/>
              </a:ext>
            </a:extLst>
          </p:cNvPr>
          <p:cNvGrpSpPr/>
          <p:nvPr/>
        </p:nvGrpSpPr>
        <p:grpSpPr>
          <a:xfrm>
            <a:off x="9245901" y="4622257"/>
            <a:ext cx="1049070" cy="1017403"/>
            <a:chOff x="9052890" y="4453027"/>
            <a:chExt cx="1664532" cy="1592298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547723D0-EAFE-BAEF-9239-EA54A1714EB8}"/>
                </a:ext>
              </a:extLst>
            </p:cNvPr>
            <p:cNvSpPr/>
            <p:nvPr/>
          </p:nvSpPr>
          <p:spPr>
            <a:xfrm>
              <a:off x="9052890" y="4453027"/>
              <a:ext cx="1664532" cy="159229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0" name="Google Shape;9267;p98">
              <a:extLst>
                <a:ext uri="{FF2B5EF4-FFF2-40B4-BE49-F238E27FC236}">
                  <a16:creationId xmlns:a16="http://schemas.microsoft.com/office/drawing/2014/main" id="{A5D91789-603E-E887-4293-7A0DB711CABD}"/>
                </a:ext>
              </a:extLst>
            </p:cNvPr>
            <p:cNvGrpSpPr/>
            <p:nvPr/>
          </p:nvGrpSpPr>
          <p:grpSpPr>
            <a:xfrm>
              <a:off x="9457244" y="4756400"/>
              <a:ext cx="871753" cy="839327"/>
              <a:chOff x="-10391650" y="3180600"/>
              <a:chExt cx="352875" cy="353075"/>
            </a:xfrm>
            <a:solidFill>
              <a:schemeClr val="bg1"/>
            </a:solidFill>
          </p:grpSpPr>
          <p:sp>
            <p:nvSpPr>
              <p:cNvPr id="31" name="Google Shape;9268;p98">
                <a:extLst>
                  <a:ext uri="{FF2B5EF4-FFF2-40B4-BE49-F238E27FC236}">
                    <a16:creationId xmlns:a16="http://schemas.microsoft.com/office/drawing/2014/main" id="{CCE32A77-2DB0-8942-F0B3-DDBD07B7DE26}"/>
                  </a:ext>
                </a:extLst>
              </p:cNvPr>
              <p:cNvSpPr/>
              <p:nvPr/>
            </p:nvSpPr>
            <p:spPr>
              <a:xfrm>
                <a:off x="-10390875" y="3263500"/>
                <a:ext cx="352100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14084" h="1702" extrusionOk="0">
                    <a:moveTo>
                      <a:pt x="820" y="1"/>
                    </a:moveTo>
                    <a:cubicBezTo>
                      <a:pt x="347" y="1"/>
                      <a:pt x="1" y="379"/>
                      <a:pt x="1" y="851"/>
                    </a:cubicBezTo>
                    <a:lnTo>
                      <a:pt x="1" y="1261"/>
                    </a:lnTo>
                    <a:cubicBezTo>
                      <a:pt x="1" y="1513"/>
                      <a:pt x="190" y="1702"/>
                      <a:pt x="410" y="1702"/>
                    </a:cubicBezTo>
                    <a:lnTo>
                      <a:pt x="13674" y="1702"/>
                    </a:lnTo>
                    <a:cubicBezTo>
                      <a:pt x="13894" y="1702"/>
                      <a:pt x="14083" y="1513"/>
                      <a:pt x="14083" y="1261"/>
                    </a:cubicBezTo>
                    <a:lnTo>
                      <a:pt x="14083" y="851"/>
                    </a:lnTo>
                    <a:cubicBezTo>
                      <a:pt x="14083" y="410"/>
                      <a:pt x="13705" y="1"/>
                      <a:pt x="1326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69;p98">
                <a:extLst>
                  <a:ext uri="{FF2B5EF4-FFF2-40B4-BE49-F238E27FC236}">
                    <a16:creationId xmlns:a16="http://schemas.microsoft.com/office/drawing/2014/main" id="{0B96CD76-7B05-F9CB-ABA9-41C6AF8ACA9B}"/>
                  </a:ext>
                </a:extLst>
              </p:cNvPr>
              <p:cNvSpPr/>
              <p:nvPr/>
            </p:nvSpPr>
            <p:spPr>
              <a:xfrm>
                <a:off x="-10391650" y="3451750"/>
                <a:ext cx="352875" cy="81925"/>
              </a:xfrm>
              <a:custGeom>
                <a:avLst/>
                <a:gdLst/>
                <a:ahLst/>
                <a:cxnLst/>
                <a:rect l="l" t="t" r="r" b="b"/>
                <a:pathLst>
                  <a:path w="14114" h="3277" extrusionOk="0">
                    <a:moveTo>
                      <a:pt x="2079" y="0"/>
                    </a:moveTo>
                    <a:cubicBezTo>
                      <a:pt x="1418" y="0"/>
                      <a:pt x="819" y="536"/>
                      <a:pt x="819" y="1229"/>
                    </a:cubicBezTo>
                    <a:lnTo>
                      <a:pt x="819" y="1607"/>
                    </a:lnTo>
                    <a:cubicBezTo>
                      <a:pt x="347" y="1607"/>
                      <a:pt x="0" y="1954"/>
                      <a:pt x="0" y="2458"/>
                    </a:cubicBezTo>
                    <a:lnTo>
                      <a:pt x="0" y="2867"/>
                    </a:lnTo>
                    <a:cubicBezTo>
                      <a:pt x="0" y="3119"/>
                      <a:pt x="189" y="3277"/>
                      <a:pt x="378" y="3277"/>
                    </a:cubicBezTo>
                    <a:lnTo>
                      <a:pt x="13642" y="3277"/>
                    </a:lnTo>
                    <a:cubicBezTo>
                      <a:pt x="13894" y="3277"/>
                      <a:pt x="14083" y="3088"/>
                      <a:pt x="14083" y="2867"/>
                    </a:cubicBezTo>
                    <a:lnTo>
                      <a:pt x="14083" y="2458"/>
                    </a:lnTo>
                    <a:cubicBezTo>
                      <a:pt x="14114" y="1954"/>
                      <a:pt x="13736" y="1607"/>
                      <a:pt x="13295" y="1607"/>
                    </a:cubicBezTo>
                    <a:lnTo>
                      <a:pt x="13295" y="1229"/>
                    </a:lnTo>
                    <a:cubicBezTo>
                      <a:pt x="13295" y="567"/>
                      <a:pt x="12760" y="0"/>
                      <a:pt x="1203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70;p98">
                <a:extLst>
                  <a:ext uri="{FF2B5EF4-FFF2-40B4-BE49-F238E27FC236}">
                    <a16:creationId xmlns:a16="http://schemas.microsoft.com/office/drawing/2014/main" id="{D66BFD04-6F5A-A84B-E608-8147FE06896E}"/>
                  </a:ext>
                </a:extLst>
              </p:cNvPr>
              <p:cNvSpPr/>
              <p:nvPr/>
            </p:nvSpPr>
            <p:spPr>
              <a:xfrm>
                <a:off x="-10327075" y="3180600"/>
                <a:ext cx="223700" cy="62450"/>
              </a:xfrm>
              <a:custGeom>
                <a:avLst/>
                <a:gdLst/>
                <a:ahLst/>
                <a:cxnLst/>
                <a:rect l="l" t="t" r="r" b="b"/>
                <a:pathLst>
                  <a:path w="8948" h="2498" extrusionOk="0">
                    <a:moveTo>
                      <a:pt x="4490" y="1"/>
                    </a:moveTo>
                    <a:cubicBezTo>
                      <a:pt x="4419" y="1"/>
                      <a:pt x="4348" y="24"/>
                      <a:pt x="4285" y="72"/>
                    </a:cubicBezTo>
                    <a:lnTo>
                      <a:pt x="0" y="2498"/>
                    </a:lnTo>
                    <a:lnTo>
                      <a:pt x="8948" y="2498"/>
                    </a:lnTo>
                    <a:lnTo>
                      <a:pt x="4695" y="72"/>
                    </a:lnTo>
                    <a:cubicBezTo>
                      <a:pt x="4632" y="24"/>
                      <a:pt x="4561" y="1"/>
                      <a:pt x="449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71;p98">
                <a:extLst>
                  <a:ext uri="{FF2B5EF4-FFF2-40B4-BE49-F238E27FC236}">
                    <a16:creationId xmlns:a16="http://schemas.microsoft.com/office/drawing/2014/main" id="{1A0FBF57-1CE1-B4B2-41BA-EAF4DD90FB5A}"/>
                  </a:ext>
                </a:extLst>
              </p:cNvPr>
              <p:cNvSpPr/>
              <p:nvPr/>
            </p:nvSpPr>
            <p:spPr>
              <a:xfrm>
                <a:off x="-10245950" y="3325725"/>
                <a:ext cx="614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4191" extrusionOk="0">
                    <a:moveTo>
                      <a:pt x="0" y="1"/>
                    </a:moveTo>
                    <a:lnTo>
                      <a:pt x="0" y="4191"/>
                    </a:lnTo>
                    <a:lnTo>
                      <a:pt x="2458" y="4191"/>
                    </a:lnTo>
                    <a:lnTo>
                      <a:pt x="245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72;p98">
                <a:extLst>
                  <a:ext uri="{FF2B5EF4-FFF2-40B4-BE49-F238E27FC236}">
                    <a16:creationId xmlns:a16="http://schemas.microsoft.com/office/drawing/2014/main" id="{68558DC8-E093-95A4-2836-EAD1295D2375}"/>
                  </a:ext>
                </a:extLst>
              </p:cNvPr>
              <p:cNvSpPr/>
              <p:nvPr/>
            </p:nvSpPr>
            <p:spPr>
              <a:xfrm>
                <a:off x="-10142775" y="3325725"/>
                <a:ext cx="630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4191" extrusionOk="0">
                    <a:moveTo>
                      <a:pt x="1" y="1"/>
                    </a:moveTo>
                    <a:lnTo>
                      <a:pt x="1" y="4191"/>
                    </a:lnTo>
                    <a:lnTo>
                      <a:pt x="2521" y="4191"/>
                    </a:lnTo>
                    <a:lnTo>
                      <a:pt x="252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73;p98">
                <a:extLst>
                  <a:ext uri="{FF2B5EF4-FFF2-40B4-BE49-F238E27FC236}">
                    <a16:creationId xmlns:a16="http://schemas.microsoft.com/office/drawing/2014/main" id="{C1C076ED-F301-97E1-001D-0DDCE2832E79}"/>
                  </a:ext>
                </a:extLst>
              </p:cNvPr>
              <p:cNvSpPr/>
              <p:nvPr/>
            </p:nvSpPr>
            <p:spPr>
              <a:xfrm>
                <a:off x="-10350700" y="3325725"/>
                <a:ext cx="62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4191" extrusionOk="0">
                    <a:moveTo>
                      <a:pt x="0" y="1"/>
                    </a:moveTo>
                    <a:lnTo>
                      <a:pt x="0" y="4191"/>
                    </a:lnTo>
                    <a:lnTo>
                      <a:pt x="2489" y="4191"/>
                    </a:lnTo>
                    <a:lnTo>
                      <a:pt x="248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78CD9441-32C8-8D37-AE06-05080FB8BB30}"/>
              </a:ext>
            </a:extLst>
          </p:cNvPr>
          <p:cNvSpPr txBox="1"/>
          <p:nvPr/>
        </p:nvSpPr>
        <p:spPr>
          <a:xfrm>
            <a:off x="4466725" y="5662114"/>
            <a:ext cx="207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sz="20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Study1</a:t>
            </a:r>
          </a:p>
          <a:p>
            <a:pPr algn="ctr" rtl="0"/>
            <a:r>
              <a:rPr lang="zh-CN" altLang="en-US" sz="20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有机食品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E83C4AD-4EBF-E2EF-3B8D-6E7D55EE5062}"/>
              </a:ext>
            </a:extLst>
          </p:cNvPr>
          <p:cNvSpPr txBox="1"/>
          <p:nvPr/>
        </p:nvSpPr>
        <p:spPr>
          <a:xfrm>
            <a:off x="6624293" y="5656596"/>
            <a:ext cx="207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sz="20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Study2</a:t>
            </a:r>
          </a:p>
          <a:p>
            <a:pPr algn="ctr" rtl="0"/>
            <a:r>
              <a:rPr lang="zh-CN" altLang="en-US" sz="20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酒精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748A8FA-A4F8-4E7D-F48C-DC5CB0A31AB2}"/>
              </a:ext>
            </a:extLst>
          </p:cNvPr>
          <p:cNvSpPr txBox="1"/>
          <p:nvPr/>
        </p:nvSpPr>
        <p:spPr>
          <a:xfrm>
            <a:off x="8766871" y="5655847"/>
            <a:ext cx="207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sz="20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Study3</a:t>
            </a:r>
          </a:p>
          <a:p>
            <a:pPr algn="ctr" rtl="0"/>
            <a:r>
              <a:rPr lang="zh-CN" altLang="en-US" sz="20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总统候选人</a:t>
            </a:r>
            <a:endParaRPr lang="zh-CN" altLang="en-US" sz="2000" b="1" i="0" dirty="0">
              <a:solidFill>
                <a:srgbClr val="0F111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23289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" grpId="0" animBg="1"/>
      <p:bldP spid="5" grpId="0" animBg="1"/>
      <p:bldP spid="7" grpId="0"/>
      <p:bldP spid="10" grpId="0"/>
      <p:bldP spid="11" grpId="0" animBg="1"/>
      <p:bldP spid="12" grpId="0" animBg="1"/>
      <p:bldP spid="13" grpId="0"/>
      <p:bldP spid="14" grpId="0" animBg="1"/>
      <p:bldP spid="14" grpId="1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0" grpId="1"/>
      <p:bldP spid="21" grpId="0"/>
      <p:bldP spid="23" grpId="0"/>
      <p:bldP spid="46" grpId="0"/>
      <p:bldP spid="50" grpId="0"/>
      <p:bldP spid="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6F45D-1FD7-F9A9-A0AB-14B342CF9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+mj-ea"/>
              </a:rPr>
              <a:t>Methods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16" name="Google Shape;7535;p95">
            <a:extLst>
              <a:ext uri="{FF2B5EF4-FFF2-40B4-BE49-F238E27FC236}">
                <a16:creationId xmlns:a16="http://schemas.microsoft.com/office/drawing/2014/main" id="{49A12E27-DE3E-81C9-DF51-27A05E019E32}"/>
              </a:ext>
            </a:extLst>
          </p:cNvPr>
          <p:cNvSpPr/>
          <p:nvPr/>
        </p:nvSpPr>
        <p:spPr>
          <a:xfrm>
            <a:off x="-907266" y="1034695"/>
            <a:ext cx="1320113" cy="1109741"/>
          </a:xfrm>
          <a:custGeom>
            <a:avLst/>
            <a:gdLst/>
            <a:ahLst/>
            <a:cxnLst/>
            <a:rect l="l" t="t" r="r" b="b"/>
            <a:pathLst>
              <a:path w="15029" h="12634" extrusionOk="0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7" name="Google Shape;9049;p98">
            <a:extLst>
              <a:ext uri="{FF2B5EF4-FFF2-40B4-BE49-F238E27FC236}">
                <a16:creationId xmlns:a16="http://schemas.microsoft.com/office/drawing/2014/main" id="{E791701E-B5AB-65EA-CC90-73733D56A96E}"/>
              </a:ext>
            </a:extLst>
          </p:cNvPr>
          <p:cNvGrpSpPr/>
          <p:nvPr/>
        </p:nvGrpSpPr>
        <p:grpSpPr>
          <a:xfrm>
            <a:off x="-620457" y="3025708"/>
            <a:ext cx="1079514" cy="1069104"/>
            <a:chOff x="-49766550" y="3920175"/>
            <a:chExt cx="303250" cy="300325"/>
          </a:xfrm>
          <a:solidFill>
            <a:schemeClr val="tx1"/>
          </a:solidFill>
        </p:grpSpPr>
        <p:sp>
          <p:nvSpPr>
            <p:cNvPr id="18" name="Google Shape;9050;p98">
              <a:extLst>
                <a:ext uri="{FF2B5EF4-FFF2-40B4-BE49-F238E27FC236}">
                  <a16:creationId xmlns:a16="http://schemas.microsoft.com/office/drawing/2014/main" id="{EB03025B-8317-3918-8C12-B8976D8E5D7B}"/>
                </a:ext>
              </a:extLst>
            </p:cNvPr>
            <p:cNvSpPr/>
            <p:nvPr/>
          </p:nvSpPr>
          <p:spPr>
            <a:xfrm>
              <a:off x="-49764975" y="3920175"/>
              <a:ext cx="228425" cy="89225"/>
            </a:xfrm>
            <a:custGeom>
              <a:avLst/>
              <a:gdLst/>
              <a:ahLst/>
              <a:cxnLst/>
              <a:rect l="l" t="t" r="r" b="b"/>
              <a:pathLst>
                <a:path w="9137" h="3568" extrusionOk="0">
                  <a:moveTo>
                    <a:pt x="4568" y="1"/>
                  </a:moveTo>
                  <a:cubicBezTo>
                    <a:pt x="2284" y="1"/>
                    <a:pt x="0" y="592"/>
                    <a:pt x="0" y="1773"/>
                  </a:cubicBezTo>
                  <a:cubicBezTo>
                    <a:pt x="0" y="2970"/>
                    <a:pt x="2300" y="3569"/>
                    <a:pt x="4568" y="3569"/>
                  </a:cubicBezTo>
                  <a:cubicBezTo>
                    <a:pt x="6837" y="3569"/>
                    <a:pt x="9137" y="2970"/>
                    <a:pt x="9137" y="1773"/>
                  </a:cubicBezTo>
                  <a:cubicBezTo>
                    <a:pt x="9137" y="592"/>
                    <a:pt x="6852" y="1"/>
                    <a:pt x="45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" name="Google Shape;9051;p98">
              <a:extLst>
                <a:ext uri="{FF2B5EF4-FFF2-40B4-BE49-F238E27FC236}">
                  <a16:creationId xmlns:a16="http://schemas.microsoft.com/office/drawing/2014/main" id="{8006AB81-C291-18F7-F07F-4A89D70D2C10}"/>
                </a:ext>
              </a:extLst>
            </p:cNvPr>
            <p:cNvSpPr/>
            <p:nvPr/>
          </p:nvSpPr>
          <p:spPr>
            <a:xfrm>
              <a:off x="-49764975" y="3998350"/>
              <a:ext cx="141775" cy="115800"/>
            </a:xfrm>
            <a:custGeom>
              <a:avLst/>
              <a:gdLst/>
              <a:ahLst/>
              <a:cxnLst/>
              <a:rect l="l" t="t" r="r" b="b"/>
              <a:pathLst>
                <a:path w="5671" h="4632" extrusionOk="0">
                  <a:moveTo>
                    <a:pt x="0" y="1"/>
                  </a:moveTo>
                  <a:lnTo>
                    <a:pt x="0" y="3939"/>
                  </a:lnTo>
                  <a:cubicBezTo>
                    <a:pt x="0" y="4317"/>
                    <a:pt x="315" y="4632"/>
                    <a:pt x="693" y="4632"/>
                  </a:cubicBezTo>
                  <a:cubicBezTo>
                    <a:pt x="1103" y="4632"/>
                    <a:pt x="1418" y="4317"/>
                    <a:pt x="1418" y="3939"/>
                  </a:cubicBezTo>
                  <a:lnTo>
                    <a:pt x="1418" y="2868"/>
                  </a:lnTo>
                  <a:cubicBezTo>
                    <a:pt x="1418" y="2269"/>
                    <a:pt x="1890" y="1796"/>
                    <a:pt x="2457" y="1796"/>
                  </a:cubicBezTo>
                  <a:cubicBezTo>
                    <a:pt x="3056" y="1796"/>
                    <a:pt x="3529" y="2269"/>
                    <a:pt x="3529" y="2868"/>
                  </a:cubicBezTo>
                  <a:lnTo>
                    <a:pt x="3529" y="3592"/>
                  </a:lnTo>
                  <a:cubicBezTo>
                    <a:pt x="3529" y="3781"/>
                    <a:pt x="3686" y="3939"/>
                    <a:pt x="3875" y="3939"/>
                  </a:cubicBezTo>
                  <a:cubicBezTo>
                    <a:pt x="4096" y="3939"/>
                    <a:pt x="4253" y="3781"/>
                    <a:pt x="4253" y="3592"/>
                  </a:cubicBezTo>
                  <a:lnTo>
                    <a:pt x="4253" y="2868"/>
                  </a:lnTo>
                  <a:cubicBezTo>
                    <a:pt x="4253" y="2427"/>
                    <a:pt x="4568" y="1954"/>
                    <a:pt x="5041" y="1828"/>
                  </a:cubicBezTo>
                  <a:cubicBezTo>
                    <a:pt x="5104" y="1796"/>
                    <a:pt x="5198" y="1796"/>
                    <a:pt x="5293" y="1796"/>
                  </a:cubicBezTo>
                  <a:cubicBezTo>
                    <a:pt x="5513" y="1796"/>
                    <a:pt x="5671" y="1639"/>
                    <a:pt x="5671" y="1450"/>
                  </a:cubicBezTo>
                  <a:lnTo>
                    <a:pt x="5671" y="1040"/>
                  </a:lnTo>
                  <a:cubicBezTo>
                    <a:pt x="5293" y="1103"/>
                    <a:pt x="4946" y="1103"/>
                    <a:pt x="4600" y="1103"/>
                  </a:cubicBezTo>
                  <a:cubicBezTo>
                    <a:pt x="2899" y="1103"/>
                    <a:pt x="1008" y="78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" name="Google Shape;9052;p98">
              <a:extLst>
                <a:ext uri="{FF2B5EF4-FFF2-40B4-BE49-F238E27FC236}">
                  <a16:creationId xmlns:a16="http://schemas.microsoft.com/office/drawing/2014/main" id="{3C4B0540-721B-1B3C-1C9E-9CED6420BDE7}"/>
                </a:ext>
              </a:extLst>
            </p:cNvPr>
            <p:cNvSpPr/>
            <p:nvPr/>
          </p:nvSpPr>
          <p:spPr>
            <a:xfrm>
              <a:off x="-49627151" y="3996000"/>
              <a:ext cx="163850" cy="148100"/>
            </a:xfrm>
            <a:custGeom>
              <a:avLst/>
              <a:gdLst/>
              <a:ahLst/>
              <a:cxnLst/>
              <a:rect l="l" t="t" r="r" b="b"/>
              <a:pathLst>
                <a:path w="6554" h="5924" extrusionOk="0">
                  <a:moveTo>
                    <a:pt x="3655" y="725"/>
                  </a:moveTo>
                  <a:cubicBezTo>
                    <a:pt x="4348" y="1040"/>
                    <a:pt x="5041" y="1544"/>
                    <a:pt x="5451" y="2206"/>
                  </a:cubicBezTo>
                  <a:cubicBezTo>
                    <a:pt x="5766" y="2678"/>
                    <a:pt x="5860" y="3308"/>
                    <a:pt x="5671" y="3875"/>
                  </a:cubicBezTo>
                  <a:cubicBezTo>
                    <a:pt x="5451" y="4411"/>
                    <a:pt x="5041" y="4852"/>
                    <a:pt x="4443" y="5041"/>
                  </a:cubicBezTo>
                  <a:cubicBezTo>
                    <a:pt x="4171" y="5132"/>
                    <a:pt x="3899" y="5193"/>
                    <a:pt x="3655" y="5198"/>
                  </a:cubicBezTo>
                  <a:lnTo>
                    <a:pt x="3655" y="5198"/>
                  </a:lnTo>
                  <a:lnTo>
                    <a:pt x="3655" y="725"/>
                  </a:lnTo>
                  <a:close/>
                  <a:moveTo>
                    <a:pt x="3718" y="0"/>
                  </a:moveTo>
                  <a:cubicBezTo>
                    <a:pt x="3088" y="599"/>
                    <a:pt x="1985" y="914"/>
                    <a:pt x="820" y="1071"/>
                  </a:cubicBezTo>
                  <a:lnTo>
                    <a:pt x="820" y="1544"/>
                  </a:lnTo>
                  <a:cubicBezTo>
                    <a:pt x="820" y="2048"/>
                    <a:pt x="473" y="2489"/>
                    <a:pt x="0" y="2584"/>
                  </a:cubicBezTo>
                  <a:lnTo>
                    <a:pt x="1009" y="3938"/>
                  </a:lnTo>
                  <a:cubicBezTo>
                    <a:pt x="1619" y="4793"/>
                    <a:pt x="2554" y="5263"/>
                    <a:pt x="3557" y="5263"/>
                  </a:cubicBezTo>
                  <a:cubicBezTo>
                    <a:pt x="3579" y="5263"/>
                    <a:pt x="3601" y="5263"/>
                    <a:pt x="3624" y="5262"/>
                  </a:cubicBezTo>
                  <a:lnTo>
                    <a:pt x="3624" y="5262"/>
                  </a:lnTo>
                  <a:lnTo>
                    <a:pt x="3624" y="5923"/>
                  </a:lnTo>
                  <a:cubicBezTo>
                    <a:pt x="3970" y="5923"/>
                    <a:pt x="4317" y="5829"/>
                    <a:pt x="4632" y="5734"/>
                  </a:cubicBezTo>
                  <a:cubicBezTo>
                    <a:pt x="5419" y="5451"/>
                    <a:pt x="6018" y="4852"/>
                    <a:pt x="6301" y="4096"/>
                  </a:cubicBezTo>
                  <a:cubicBezTo>
                    <a:pt x="6553" y="3371"/>
                    <a:pt x="6459" y="2521"/>
                    <a:pt x="6018" y="1859"/>
                  </a:cubicBezTo>
                  <a:cubicBezTo>
                    <a:pt x="5451" y="1040"/>
                    <a:pt x="4632" y="410"/>
                    <a:pt x="37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" name="Google Shape;9053;p98">
              <a:extLst>
                <a:ext uri="{FF2B5EF4-FFF2-40B4-BE49-F238E27FC236}">
                  <a16:creationId xmlns:a16="http://schemas.microsoft.com/office/drawing/2014/main" id="{D2AFEEA1-222C-DFDC-6DA6-776E5BE774A5}"/>
                </a:ext>
              </a:extLst>
            </p:cNvPr>
            <p:cNvSpPr/>
            <p:nvPr/>
          </p:nvSpPr>
          <p:spPr>
            <a:xfrm>
              <a:off x="-49766550" y="4061375"/>
              <a:ext cx="230000" cy="159125"/>
            </a:xfrm>
            <a:custGeom>
              <a:avLst/>
              <a:gdLst/>
              <a:ahLst/>
              <a:cxnLst/>
              <a:rect l="l" t="t" r="r" b="b"/>
              <a:pathLst>
                <a:path w="9200" h="6365" extrusionOk="0">
                  <a:moveTo>
                    <a:pt x="2489" y="0"/>
                  </a:moveTo>
                  <a:cubicBezTo>
                    <a:pt x="2300" y="0"/>
                    <a:pt x="2142" y="158"/>
                    <a:pt x="2142" y="347"/>
                  </a:cubicBezTo>
                  <a:lnTo>
                    <a:pt x="2142" y="1418"/>
                  </a:lnTo>
                  <a:cubicBezTo>
                    <a:pt x="2142" y="2205"/>
                    <a:pt x="1481" y="2836"/>
                    <a:pt x="725" y="2836"/>
                  </a:cubicBezTo>
                  <a:cubicBezTo>
                    <a:pt x="441" y="2836"/>
                    <a:pt x="221" y="2741"/>
                    <a:pt x="0" y="2647"/>
                  </a:cubicBezTo>
                  <a:lnTo>
                    <a:pt x="0" y="4600"/>
                  </a:lnTo>
                  <a:cubicBezTo>
                    <a:pt x="0" y="5734"/>
                    <a:pt x="2331" y="6364"/>
                    <a:pt x="4631" y="6364"/>
                  </a:cubicBezTo>
                  <a:cubicBezTo>
                    <a:pt x="6900" y="6364"/>
                    <a:pt x="9200" y="5797"/>
                    <a:pt x="9200" y="4600"/>
                  </a:cubicBezTo>
                  <a:lnTo>
                    <a:pt x="9200" y="3340"/>
                  </a:lnTo>
                  <a:cubicBezTo>
                    <a:pt x="9121" y="3353"/>
                    <a:pt x="9033" y="3360"/>
                    <a:pt x="8938" y="3360"/>
                  </a:cubicBezTo>
                  <a:cubicBezTo>
                    <a:pt x="8153" y="3360"/>
                    <a:pt x="6857" y="2888"/>
                    <a:pt x="5986" y="1764"/>
                  </a:cubicBezTo>
                  <a:lnTo>
                    <a:pt x="4978" y="378"/>
                  </a:lnTo>
                  <a:lnTo>
                    <a:pt x="4978" y="1071"/>
                  </a:lnTo>
                  <a:cubicBezTo>
                    <a:pt x="4978" y="1638"/>
                    <a:pt x="4505" y="2111"/>
                    <a:pt x="3907" y="2111"/>
                  </a:cubicBezTo>
                  <a:cubicBezTo>
                    <a:pt x="3308" y="2111"/>
                    <a:pt x="2836" y="163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8" y="0"/>
                    <a:pt x="2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2" name="Google Shape;9267;p98">
            <a:extLst>
              <a:ext uri="{FF2B5EF4-FFF2-40B4-BE49-F238E27FC236}">
                <a16:creationId xmlns:a16="http://schemas.microsoft.com/office/drawing/2014/main" id="{0AB019A7-6158-712B-C392-C05DF77BADC0}"/>
              </a:ext>
            </a:extLst>
          </p:cNvPr>
          <p:cNvGrpSpPr/>
          <p:nvPr/>
        </p:nvGrpSpPr>
        <p:grpSpPr>
          <a:xfrm>
            <a:off x="-467240" y="5020084"/>
            <a:ext cx="1068776" cy="1069485"/>
            <a:chOff x="-10391650" y="3180600"/>
            <a:chExt cx="352875" cy="353075"/>
          </a:xfrm>
          <a:solidFill>
            <a:schemeClr val="tx1"/>
          </a:solidFill>
        </p:grpSpPr>
        <p:sp>
          <p:nvSpPr>
            <p:cNvPr id="23" name="Google Shape;9268;p98">
              <a:extLst>
                <a:ext uri="{FF2B5EF4-FFF2-40B4-BE49-F238E27FC236}">
                  <a16:creationId xmlns:a16="http://schemas.microsoft.com/office/drawing/2014/main" id="{6913BA70-4ADE-EDF4-6ADE-5F2380FED7AC}"/>
                </a:ext>
              </a:extLst>
            </p:cNvPr>
            <p:cNvSpPr/>
            <p:nvPr/>
          </p:nvSpPr>
          <p:spPr>
            <a:xfrm>
              <a:off x="-10390875" y="3263500"/>
              <a:ext cx="352100" cy="42550"/>
            </a:xfrm>
            <a:custGeom>
              <a:avLst/>
              <a:gdLst/>
              <a:ahLst/>
              <a:cxnLst/>
              <a:rect l="l" t="t" r="r" b="b"/>
              <a:pathLst>
                <a:path w="14084" h="1702" extrusionOk="0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1" y="1261"/>
                  </a:lnTo>
                  <a:cubicBezTo>
                    <a:pt x="1" y="1513"/>
                    <a:pt x="190" y="1702"/>
                    <a:pt x="410" y="1702"/>
                  </a:cubicBezTo>
                  <a:lnTo>
                    <a:pt x="13674" y="1702"/>
                  </a:lnTo>
                  <a:cubicBezTo>
                    <a:pt x="13894" y="1702"/>
                    <a:pt x="14083" y="1513"/>
                    <a:pt x="14083" y="1261"/>
                  </a:cubicBezTo>
                  <a:lnTo>
                    <a:pt x="14083" y="851"/>
                  </a:lnTo>
                  <a:cubicBezTo>
                    <a:pt x="14083" y="410"/>
                    <a:pt x="13705" y="1"/>
                    <a:pt x="132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4" name="Google Shape;9269;p98">
              <a:extLst>
                <a:ext uri="{FF2B5EF4-FFF2-40B4-BE49-F238E27FC236}">
                  <a16:creationId xmlns:a16="http://schemas.microsoft.com/office/drawing/2014/main" id="{88FD7A0E-6EBF-D943-FF1C-BEA27BC26F15}"/>
                </a:ext>
              </a:extLst>
            </p:cNvPr>
            <p:cNvSpPr/>
            <p:nvPr/>
          </p:nvSpPr>
          <p:spPr>
            <a:xfrm>
              <a:off x="-10391650" y="3451750"/>
              <a:ext cx="352875" cy="81925"/>
            </a:xfrm>
            <a:custGeom>
              <a:avLst/>
              <a:gdLst/>
              <a:ahLst/>
              <a:cxnLst/>
              <a:rect l="l" t="t" r="r" b="b"/>
              <a:pathLst>
                <a:path w="14114" h="3277" extrusionOk="0">
                  <a:moveTo>
                    <a:pt x="2079" y="0"/>
                  </a:moveTo>
                  <a:cubicBezTo>
                    <a:pt x="1418" y="0"/>
                    <a:pt x="819" y="536"/>
                    <a:pt x="819" y="1229"/>
                  </a:cubicBezTo>
                  <a:lnTo>
                    <a:pt x="819" y="1607"/>
                  </a:lnTo>
                  <a:cubicBezTo>
                    <a:pt x="347" y="1607"/>
                    <a:pt x="0" y="1954"/>
                    <a:pt x="0" y="2458"/>
                  </a:cubicBezTo>
                  <a:lnTo>
                    <a:pt x="0" y="2867"/>
                  </a:lnTo>
                  <a:cubicBezTo>
                    <a:pt x="0" y="3119"/>
                    <a:pt x="189" y="3277"/>
                    <a:pt x="378" y="3277"/>
                  </a:cubicBezTo>
                  <a:lnTo>
                    <a:pt x="13642" y="3277"/>
                  </a:lnTo>
                  <a:cubicBezTo>
                    <a:pt x="13894" y="3277"/>
                    <a:pt x="14083" y="3088"/>
                    <a:pt x="14083" y="2867"/>
                  </a:cubicBezTo>
                  <a:lnTo>
                    <a:pt x="14083" y="2458"/>
                  </a:lnTo>
                  <a:cubicBezTo>
                    <a:pt x="14114" y="1954"/>
                    <a:pt x="13736" y="1607"/>
                    <a:pt x="13295" y="1607"/>
                  </a:cubicBezTo>
                  <a:lnTo>
                    <a:pt x="13295" y="1229"/>
                  </a:lnTo>
                  <a:cubicBezTo>
                    <a:pt x="13295" y="567"/>
                    <a:pt x="12760" y="0"/>
                    <a:pt x="120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5" name="Google Shape;9270;p98">
              <a:extLst>
                <a:ext uri="{FF2B5EF4-FFF2-40B4-BE49-F238E27FC236}">
                  <a16:creationId xmlns:a16="http://schemas.microsoft.com/office/drawing/2014/main" id="{52102163-B962-5476-7A5F-BC295BC0A56C}"/>
                </a:ext>
              </a:extLst>
            </p:cNvPr>
            <p:cNvSpPr/>
            <p:nvPr/>
          </p:nvSpPr>
          <p:spPr>
            <a:xfrm>
              <a:off x="-10327075" y="3180600"/>
              <a:ext cx="223700" cy="62450"/>
            </a:xfrm>
            <a:custGeom>
              <a:avLst/>
              <a:gdLst/>
              <a:ahLst/>
              <a:cxnLst/>
              <a:rect l="l" t="t" r="r" b="b"/>
              <a:pathLst>
                <a:path w="8948" h="2498" extrusionOk="0">
                  <a:moveTo>
                    <a:pt x="4490" y="1"/>
                  </a:moveTo>
                  <a:cubicBezTo>
                    <a:pt x="4419" y="1"/>
                    <a:pt x="4348" y="24"/>
                    <a:pt x="4285" y="72"/>
                  </a:cubicBezTo>
                  <a:lnTo>
                    <a:pt x="0" y="2498"/>
                  </a:lnTo>
                  <a:lnTo>
                    <a:pt x="8948" y="2498"/>
                  </a:lnTo>
                  <a:lnTo>
                    <a:pt x="4695" y="72"/>
                  </a:lnTo>
                  <a:cubicBezTo>
                    <a:pt x="4632" y="24"/>
                    <a:pt x="4561" y="1"/>
                    <a:pt x="44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6" name="Google Shape;9271;p98">
              <a:extLst>
                <a:ext uri="{FF2B5EF4-FFF2-40B4-BE49-F238E27FC236}">
                  <a16:creationId xmlns:a16="http://schemas.microsoft.com/office/drawing/2014/main" id="{FF6A724D-B64D-5375-35EE-A1E6FA28199E}"/>
                </a:ext>
              </a:extLst>
            </p:cNvPr>
            <p:cNvSpPr/>
            <p:nvPr/>
          </p:nvSpPr>
          <p:spPr>
            <a:xfrm>
              <a:off x="-10245950" y="3325725"/>
              <a:ext cx="61450" cy="104775"/>
            </a:xfrm>
            <a:custGeom>
              <a:avLst/>
              <a:gdLst/>
              <a:ahLst/>
              <a:cxnLst/>
              <a:rect l="l" t="t" r="r" b="b"/>
              <a:pathLst>
                <a:path w="2458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58" y="4191"/>
                  </a:lnTo>
                  <a:lnTo>
                    <a:pt x="245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" name="Google Shape;9272;p98">
              <a:extLst>
                <a:ext uri="{FF2B5EF4-FFF2-40B4-BE49-F238E27FC236}">
                  <a16:creationId xmlns:a16="http://schemas.microsoft.com/office/drawing/2014/main" id="{BEE13233-C71D-1C08-F322-090CB88E8432}"/>
                </a:ext>
              </a:extLst>
            </p:cNvPr>
            <p:cNvSpPr/>
            <p:nvPr/>
          </p:nvSpPr>
          <p:spPr>
            <a:xfrm>
              <a:off x="-10142775" y="3325725"/>
              <a:ext cx="63025" cy="104775"/>
            </a:xfrm>
            <a:custGeom>
              <a:avLst/>
              <a:gdLst/>
              <a:ahLst/>
              <a:cxnLst/>
              <a:rect l="l" t="t" r="r" b="b"/>
              <a:pathLst>
                <a:path w="2521" h="4191" extrusionOk="0">
                  <a:moveTo>
                    <a:pt x="1" y="1"/>
                  </a:moveTo>
                  <a:lnTo>
                    <a:pt x="1" y="4191"/>
                  </a:lnTo>
                  <a:lnTo>
                    <a:pt x="2521" y="4191"/>
                  </a:lnTo>
                  <a:lnTo>
                    <a:pt x="2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8" name="Google Shape;9273;p98">
              <a:extLst>
                <a:ext uri="{FF2B5EF4-FFF2-40B4-BE49-F238E27FC236}">
                  <a16:creationId xmlns:a16="http://schemas.microsoft.com/office/drawing/2014/main" id="{8F080E0C-89FA-3F40-D09E-73A4AF93BEDC}"/>
                </a:ext>
              </a:extLst>
            </p:cNvPr>
            <p:cNvSpPr/>
            <p:nvPr/>
          </p:nvSpPr>
          <p:spPr>
            <a:xfrm>
              <a:off x="-10350700" y="3325725"/>
              <a:ext cx="62250" cy="104775"/>
            </a:xfrm>
            <a:custGeom>
              <a:avLst/>
              <a:gdLst/>
              <a:ahLst/>
              <a:cxnLst/>
              <a:rect l="l" t="t" r="r" b="b"/>
              <a:pathLst>
                <a:path w="2490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89" y="4191"/>
                  </a:lnTo>
                  <a:lnTo>
                    <a:pt x="24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3" name="Google Shape;2766;p88">
            <a:extLst>
              <a:ext uri="{FF2B5EF4-FFF2-40B4-BE49-F238E27FC236}">
                <a16:creationId xmlns:a16="http://schemas.microsoft.com/office/drawing/2014/main" id="{AF9EE8E7-54B0-8E4C-001D-38D1DB08EC83}"/>
              </a:ext>
            </a:extLst>
          </p:cNvPr>
          <p:cNvSpPr/>
          <p:nvPr/>
        </p:nvSpPr>
        <p:spPr>
          <a:xfrm>
            <a:off x="1121569" y="4094812"/>
            <a:ext cx="2470832" cy="917706"/>
          </a:xfrm>
          <a:prstGeom prst="homePlate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4" name="Google Shape;2767;p88">
            <a:extLst>
              <a:ext uri="{FF2B5EF4-FFF2-40B4-BE49-F238E27FC236}">
                <a16:creationId xmlns:a16="http://schemas.microsoft.com/office/drawing/2014/main" id="{53AAA98F-A24F-49B1-07D9-442EE89BB59C}"/>
              </a:ext>
            </a:extLst>
          </p:cNvPr>
          <p:cNvSpPr/>
          <p:nvPr/>
        </p:nvSpPr>
        <p:spPr>
          <a:xfrm>
            <a:off x="3344004" y="4094786"/>
            <a:ext cx="1275636" cy="917706"/>
          </a:xfrm>
          <a:prstGeom prst="chevron">
            <a:avLst>
              <a:gd name="adj" fmla="val 50000"/>
            </a:avLst>
          </a:prstGeom>
          <a:solidFill>
            <a:srgbClr val="53A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" name="Google Shape;2768;p88">
            <a:extLst>
              <a:ext uri="{FF2B5EF4-FFF2-40B4-BE49-F238E27FC236}">
                <a16:creationId xmlns:a16="http://schemas.microsoft.com/office/drawing/2014/main" id="{FD60F03E-FA97-867D-FFC6-19BCFA8BC959}"/>
              </a:ext>
            </a:extLst>
          </p:cNvPr>
          <p:cNvSpPr/>
          <p:nvPr/>
        </p:nvSpPr>
        <p:spPr>
          <a:xfrm>
            <a:off x="9017656" y="4094786"/>
            <a:ext cx="1275636" cy="917706"/>
          </a:xfrm>
          <a:prstGeom prst="chevron">
            <a:avLst>
              <a:gd name="adj" fmla="val 50000"/>
            </a:avLst>
          </a:prstGeom>
          <a:solidFill>
            <a:srgbClr val="53A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" name="Google Shape;2769;p88">
            <a:extLst>
              <a:ext uri="{FF2B5EF4-FFF2-40B4-BE49-F238E27FC236}">
                <a16:creationId xmlns:a16="http://schemas.microsoft.com/office/drawing/2014/main" id="{ECC9D63B-92F0-23D0-98BB-140E0F6BFF3A}"/>
              </a:ext>
            </a:extLst>
          </p:cNvPr>
          <p:cNvSpPr/>
          <p:nvPr/>
        </p:nvSpPr>
        <p:spPr>
          <a:xfrm>
            <a:off x="10044895" y="4094786"/>
            <a:ext cx="1549504" cy="917706"/>
          </a:xfrm>
          <a:prstGeom prst="chevron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" name="Google Shape;2767;p88">
            <a:extLst>
              <a:ext uri="{FF2B5EF4-FFF2-40B4-BE49-F238E27FC236}">
                <a16:creationId xmlns:a16="http://schemas.microsoft.com/office/drawing/2014/main" id="{EAB0979B-DF0E-3AAA-44E5-610E9F36DC79}"/>
              </a:ext>
            </a:extLst>
          </p:cNvPr>
          <p:cNvSpPr/>
          <p:nvPr/>
        </p:nvSpPr>
        <p:spPr>
          <a:xfrm>
            <a:off x="4360545" y="4094786"/>
            <a:ext cx="4856859" cy="917706"/>
          </a:xfrm>
          <a:prstGeom prst="chevron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5365C92-63F1-213C-05E5-B21348FB4FF6}"/>
              </a:ext>
            </a:extLst>
          </p:cNvPr>
          <p:cNvSpPr txBox="1"/>
          <p:nvPr/>
        </p:nvSpPr>
        <p:spPr>
          <a:xfrm>
            <a:off x="5259362" y="4292029"/>
            <a:ext cx="3309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sz="2400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400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个月</a:t>
            </a:r>
            <a:r>
              <a:rPr lang="en-US" altLang="zh-CN" sz="2400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/1</a:t>
            </a:r>
            <a:r>
              <a:rPr lang="zh-CN" altLang="en-US" sz="2400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2400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大选后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222151-219B-D1C9-7BC8-7D15596B1A76}"/>
              </a:ext>
            </a:extLst>
          </p:cNvPr>
          <p:cNvSpPr txBox="1"/>
          <p:nvPr/>
        </p:nvSpPr>
        <p:spPr>
          <a:xfrm>
            <a:off x="1261363" y="1520877"/>
            <a:ext cx="5362482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态度</a:t>
            </a:r>
            <a:r>
              <a:rPr lang="zh-CN" alt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Semantic Differential Scale </a:t>
            </a:r>
            <a:endParaRPr lang="zh-CN" altLang="en-US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态度确定性</a:t>
            </a:r>
            <a:r>
              <a:rPr lang="zh-CN" alt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 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Petrocelli et al. (2007)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的量表</a:t>
            </a:r>
            <a:endParaRPr lang="zh-CN" altLang="en-US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客观矛盾性</a:t>
            </a:r>
            <a:r>
              <a:rPr lang="zh-CN" alt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Kaplan‘s (1972)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的量表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分别评正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负想法，使用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 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Similarity-Intensity Model 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公式计算：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[(P + N)/2] - |P - N|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主观矛盾性</a:t>
            </a:r>
            <a:r>
              <a:rPr lang="zh-CN" alt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Priester &amp; Petty (1996) 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的量表</a:t>
            </a:r>
            <a:endParaRPr lang="zh-CN" altLang="en-US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E975DD3-247E-4606-F285-58C28031D8E8}"/>
              </a:ext>
            </a:extLst>
          </p:cNvPr>
          <p:cNvSpPr txBox="1"/>
          <p:nvPr/>
        </p:nvSpPr>
        <p:spPr>
          <a:xfrm>
            <a:off x="8951374" y="5610580"/>
            <a:ext cx="12756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/>
              <a:t>同阶段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态度</a:t>
            </a:r>
            <a:endParaRPr lang="zh-CN" altLang="en-US" sz="24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217BDFC-17FD-3F0A-6B8D-91CE6685F758}"/>
              </a:ext>
            </a:extLst>
          </p:cNvPr>
          <p:cNvSpPr txBox="1"/>
          <p:nvPr/>
        </p:nvSpPr>
        <p:spPr>
          <a:xfrm>
            <a:off x="2228950" y="5443238"/>
            <a:ext cx="4856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tudy3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修改态度评分级别；修改客观矛盾性测量对人格特质的评分；删除主观矛盾性测量</a:t>
            </a:r>
          </a:p>
        </p:txBody>
      </p:sp>
      <p:sp>
        <p:nvSpPr>
          <p:cNvPr id="54" name="左大括号 53">
            <a:extLst>
              <a:ext uri="{FF2B5EF4-FFF2-40B4-BE49-F238E27FC236}">
                <a16:creationId xmlns:a16="http://schemas.microsoft.com/office/drawing/2014/main" id="{2A969B0E-8474-D90F-D037-97F4E347E15C}"/>
              </a:ext>
            </a:extLst>
          </p:cNvPr>
          <p:cNvSpPr/>
          <p:nvPr/>
        </p:nvSpPr>
        <p:spPr>
          <a:xfrm rot="16200000">
            <a:off x="3500647" y="1088817"/>
            <a:ext cx="747643" cy="5362482"/>
          </a:xfrm>
          <a:prstGeom prst="leftBrace">
            <a:avLst>
              <a:gd name="adj1" fmla="val 69133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左大括号 54">
            <a:extLst>
              <a:ext uri="{FF2B5EF4-FFF2-40B4-BE49-F238E27FC236}">
                <a16:creationId xmlns:a16="http://schemas.microsoft.com/office/drawing/2014/main" id="{790EDD7D-25C8-2163-B972-B096999E7748}"/>
              </a:ext>
            </a:extLst>
          </p:cNvPr>
          <p:cNvSpPr/>
          <p:nvPr/>
        </p:nvSpPr>
        <p:spPr>
          <a:xfrm rot="16200000" flipH="1">
            <a:off x="9240122" y="4346799"/>
            <a:ext cx="646332" cy="2106561"/>
          </a:xfrm>
          <a:prstGeom prst="leftBrace">
            <a:avLst>
              <a:gd name="adj1" fmla="val 69133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左大括号 55">
            <a:extLst>
              <a:ext uri="{FF2B5EF4-FFF2-40B4-BE49-F238E27FC236}">
                <a16:creationId xmlns:a16="http://schemas.microsoft.com/office/drawing/2014/main" id="{FD153368-D593-8F26-31DB-2FE6DE8F12DD}"/>
              </a:ext>
            </a:extLst>
          </p:cNvPr>
          <p:cNvSpPr/>
          <p:nvPr/>
        </p:nvSpPr>
        <p:spPr>
          <a:xfrm rot="16200000">
            <a:off x="9190210" y="1904088"/>
            <a:ext cx="747643" cy="3731938"/>
          </a:xfrm>
          <a:prstGeom prst="leftBrace">
            <a:avLst>
              <a:gd name="adj1" fmla="val 69133"/>
              <a:gd name="adj2" fmla="val 78244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16A8C13-1C29-1021-F10B-3D4A5C798331}"/>
              </a:ext>
            </a:extLst>
          </p:cNvPr>
          <p:cNvSpPr txBox="1"/>
          <p:nvPr/>
        </p:nvSpPr>
        <p:spPr>
          <a:xfrm>
            <a:off x="7804807" y="2026724"/>
            <a:ext cx="3516961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因变量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：态度稳定性，取两次态度差值，</a:t>
            </a:r>
            <a:r>
              <a:rPr lang="en-US" altLang="zh-CN" b="0" i="0" u="none" strike="noStrike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abs(attT2 - attT1)</a:t>
            </a:r>
            <a:endParaRPr lang="en-US" altLang="zh-CN" b="0" i="0" dirty="0">
              <a:effectLst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协变量：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态度极端性，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T1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态度与中间值差值，</a:t>
            </a:r>
            <a:r>
              <a:rPr lang="en-US" altLang="zh-CN" b="0" i="0" u="none" strike="noStrike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abs(attT1 - 4)</a:t>
            </a:r>
            <a:endParaRPr lang="zh-CN" altLang="en-US" b="0" i="0" dirty="0">
              <a:effectLst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1A9BA0D-0E7F-7C1C-2284-5E086BB11F01}"/>
              </a:ext>
            </a:extLst>
          </p:cNvPr>
          <p:cNvGrpSpPr/>
          <p:nvPr/>
        </p:nvGrpSpPr>
        <p:grpSpPr>
          <a:xfrm>
            <a:off x="1234792" y="5316447"/>
            <a:ext cx="899357" cy="872209"/>
            <a:chOff x="9052890" y="4453027"/>
            <a:chExt cx="1664532" cy="1592298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0FB8AEDB-E91C-65C4-5D04-FE5061E71909}"/>
                </a:ext>
              </a:extLst>
            </p:cNvPr>
            <p:cNvSpPr/>
            <p:nvPr/>
          </p:nvSpPr>
          <p:spPr>
            <a:xfrm>
              <a:off x="9052890" y="4453027"/>
              <a:ext cx="1664532" cy="159229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60" name="Google Shape;9267;p98">
              <a:extLst>
                <a:ext uri="{FF2B5EF4-FFF2-40B4-BE49-F238E27FC236}">
                  <a16:creationId xmlns:a16="http://schemas.microsoft.com/office/drawing/2014/main" id="{8E5CFF6E-8839-1C84-9103-1F4A0D1078B2}"/>
                </a:ext>
              </a:extLst>
            </p:cNvPr>
            <p:cNvGrpSpPr/>
            <p:nvPr/>
          </p:nvGrpSpPr>
          <p:grpSpPr>
            <a:xfrm>
              <a:off x="9457244" y="4756400"/>
              <a:ext cx="871753" cy="839327"/>
              <a:chOff x="-10391650" y="3180600"/>
              <a:chExt cx="352875" cy="353075"/>
            </a:xfrm>
            <a:solidFill>
              <a:schemeClr val="bg1"/>
            </a:solidFill>
          </p:grpSpPr>
          <p:sp>
            <p:nvSpPr>
              <p:cNvPr id="61" name="Google Shape;9268;p98">
                <a:extLst>
                  <a:ext uri="{FF2B5EF4-FFF2-40B4-BE49-F238E27FC236}">
                    <a16:creationId xmlns:a16="http://schemas.microsoft.com/office/drawing/2014/main" id="{47A99BD4-4A2C-1B25-1802-51E76677186A}"/>
                  </a:ext>
                </a:extLst>
              </p:cNvPr>
              <p:cNvSpPr/>
              <p:nvPr/>
            </p:nvSpPr>
            <p:spPr>
              <a:xfrm>
                <a:off x="-10390875" y="3263500"/>
                <a:ext cx="352100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14084" h="1702" extrusionOk="0">
                    <a:moveTo>
                      <a:pt x="820" y="1"/>
                    </a:moveTo>
                    <a:cubicBezTo>
                      <a:pt x="347" y="1"/>
                      <a:pt x="1" y="379"/>
                      <a:pt x="1" y="851"/>
                    </a:cubicBezTo>
                    <a:lnTo>
                      <a:pt x="1" y="1261"/>
                    </a:lnTo>
                    <a:cubicBezTo>
                      <a:pt x="1" y="1513"/>
                      <a:pt x="190" y="1702"/>
                      <a:pt x="410" y="1702"/>
                    </a:cubicBezTo>
                    <a:lnTo>
                      <a:pt x="13674" y="1702"/>
                    </a:lnTo>
                    <a:cubicBezTo>
                      <a:pt x="13894" y="1702"/>
                      <a:pt x="14083" y="1513"/>
                      <a:pt x="14083" y="1261"/>
                    </a:cubicBezTo>
                    <a:lnTo>
                      <a:pt x="14083" y="851"/>
                    </a:lnTo>
                    <a:cubicBezTo>
                      <a:pt x="14083" y="410"/>
                      <a:pt x="13705" y="1"/>
                      <a:pt x="1326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269;p98">
                <a:extLst>
                  <a:ext uri="{FF2B5EF4-FFF2-40B4-BE49-F238E27FC236}">
                    <a16:creationId xmlns:a16="http://schemas.microsoft.com/office/drawing/2014/main" id="{AF346F2B-4068-2354-713F-D77ACAE667D5}"/>
                  </a:ext>
                </a:extLst>
              </p:cNvPr>
              <p:cNvSpPr/>
              <p:nvPr/>
            </p:nvSpPr>
            <p:spPr>
              <a:xfrm>
                <a:off x="-10391650" y="3451750"/>
                <a:ext cx="352875" cy="81925"/>
              </a:xfrm>
              <a:custGeom>
                <a:avLst/>
                <a:gdLst/>
                <a:ahLst/>
                <a:cxnLst/>
                <a:rect l="l" t="t" r="r" b="b"/>
                <a:pathLst>
                  <a:path w="14114" h="3277" extrusionOk="0">
                    <a:moveTo>
                      <a:pt x="2079" y="0"/>
                    </a:moveTo>
                    <a:cubicBezTo>
                      <a:pt x="1418" y="0"/>
                      <a:pt x="819" y="536"/>
                      <a:pt x="819" y="1229"/>
                    </a:cubicBezTo>
                    <a:lnTo>
                      <a:pt x="819" y="1607"/>
                    </a:lnTo>
                    <a:cubicBezTo>
                      <a:pt x="347" y="1607"/>
                      <a:pt x="0" y="1954"/>
                      <a:pt x="0" y="2458"/>
                    </a:cubicBezTo>
                    <a:lnTo>
                      <a:pt x="0" y="2867"/>
                    </a:lnTo>
                    <a:cubicBezTo>
                      <a:pt x="0" y="3119"/>
                      <a:pt x="189" y="3277"/>
                      <a:pt x="378" y="3277"/>
                    </a:cubicBezTo>
                    <a:lnTo>
                      <a:pt x="13642" y="3277"/>
                    </a:lnTo>
                    <a:cubicBezTo>
                      <a:pt x="13894" y="3277"/>
                      <a:pt x="14083" y="3088"/>
                      <a:pt x="14083" y="2867"/>
                    </a:cubicBezTo>
                    <a:lnTo>
                      <a:pt x="14083" y="2458"/>
                    </a:lnTo>
                    <a:cubicBezTo>
                      <a:pt x="14114" y="1954"/>
                      <a:pt x="13736" y="1607"/>
                      <a:pt x="13295" y="1607"/>
                    </a:cubicBezTo>
                    <a:lnTo>
                      <a:pt x="13295" y="1229"/>
                    </a:lnTo>
                    <a:cubicBezTo>
                      <a:pt x="13295" y="567"/>
                      <a:pt x="12760" y="0"/>
                      <a:pt x="1203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9270;p98">
                <a:extLst>
                  <a:ext uri="{FF2B5EF4-FFF2-40B4-BE49-F238E27FC236}">
                    <a16:creationId xmlns:a16="http://schemas.microsoft.com/office/drawing/2014/main" id="{BC8DB654-453C-ACB4-227B-68EEA43CBEB7}"/>
                  </a:ext>
                </a:extLst>
              </p:cNvPr>
              <p:cNvSpPr/>
              <p:nvPr/>
            </p:nvSpPr>
            <p:spPr>
              <a:xfrm>
                <a:off x="-10327075" y="3180600"/>
                <a:ext cx="223700" cy="62450"/>
              </a:xfrm>
              <a:custGeom>
                <a:avLst/>
                <a:gdLst/>
                <a:ahLst/>
                <a:cxnLst/>
                <a:rect l="l" t="t" r="r" b="b"/>
                <a:pathLst>
                  <a:path w="8948" h="2498" extrusionOk="0">
                    <a:moveTo>
                      <a:pt x="4490" y="1"/>
                    </a:moveTo>
                    <a:cubicBezTo>
                      <a:pt x="4419" y="1"/>
                      <a:pt x="4348" y="24"/>
                      <a:pt x="4285" y="72"/>
                    </a:cubicBezTo>
                    <a:lnTo>
                      <a:pt x="0" y="2498"/>
                    </a:lnTo>
                    <a:lnTo>
                      <a:pt x="8948" y="2498"/>
                    </a:lnTo>
                    <a:lnTo>
                      <a:pt x="4695" y="72"/>
                    </a:lnTo>
                    <a:cubicBezTo>
                      <a:pt x="4632" y="24"/>
                      <a:pt x="4561" y="1"/>
                      <a:pt x="449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9271;p98">
                <a:extLst>
                  <a:ext uri="{FF2B5EF4-FFF2-40B4-BE49-F238E27FC236}">
                    <a16:creationId xmlns:a16="http://schemas.microsoft.com/office/drawing/2014/main" id="{5D5AC304-D48C-C7BB-E628-B7391B097294}"/>
                  </a:ext>
                </a:extLst>
              </p:cNvPr>
              <p:cNvSpPr/>
              <p:nvPr/>
            </p:nvSpPr>
            <p:spPr>
              <a:xfrm>
                <a:off x="-10245950" y="3325725"/>
                <a:ext cx="614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4191" extrusionOk="0">
                    <a:moveTo>
                      <a:pt x="0" y="1"/>
                    </a:moveTo>
                    <a:lnTo>
                      <a:pt x="0" y="4191"/>
                    </a:lnTo>
                    <a:lnTo>
                      <a:pt x="2458" y="4191"/>
                    </a:lnTo>
                    <a:lnTo>
                      <a:pt x="245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9272;p98">
                <a:extLst>
                  <a:ext uri="{FF2B5EF4-FFF2-40B4-BE49-F238E27FC236}">
                    <a16:creationId xmlns:a16="http://schemas.microsoft.com/office/drawing/2014/main" id="{ABA8C990-9570-5DF6-64B2-DBA0F74734E0}"/>
                  </a:ext>
                </a:extLst>
              </p:cNvPr>
              <p:cNvSpPr/>
              <p:nvPr/>
            </p:nvSpPr>
            <p:spPr>
              <a:xfrm>
                <a:off x="-10142775" y="3325725"/>
                <a:ext cx="630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4191" extrusionOk="0">
                    <a:moveTo>
                      <a:pt x="1" y="1"/>
                    </a:moveTo>
                    <a:lnTo>
                      <a:pt x="1" y="4191"/>
                    </a:lnTo>
                    <a:lnTo>
                      <a:pt x="2521" y="4191"/>
                    </a:lnTo>
                    <a:lnTo>
                      <a:pt x="252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9273;p98">
                <a:extLst>
                  <a:ext uri="{FF2B5EF4-FFF2-40B4-BE49-F238E27FC236}">
                    <a16:creationId xmlns:a16="http://schemas.microsoft.com/office/drawing/2014/main" id="{23D52F31-2562-BD0C-FD4D-516C6CEA9FD8}"/>
                  </a:ext>
                </a:extLst>
              </p:cNvPr>
              <p:cNvSpPr/>
              <p:nvPr/>
            </p:nvSpPr>
            <p:spPr>
              <a:xfrm>
                <a:off x="-10350700" y="3325725"/>
                <a:ext cx="62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4191" extrusionOk="0">
                    <a:moveTo>
                      <a:pt x="0" y="1"/>
                    </a:moveTo>
                    <a:lnTo>
                      <a:pt x="0" y="4191"/>
                    </a:lnTo>
                    <a:lnTo>
                      <a:pt x="2489" y="4191"/>
                    </a:lnTo>
                    <a:lnTo>
                      <a:pt x="248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03383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圆角矩形 42">
            <a:extLst>
              <a:ext uri="{FF2B5EF4-FFF2-40B4-BE49-F238E27FC236}">
                <a16:creationId xmlns:a16="http://schemas.microsoft.com/office/drawing/2014/main" id="{37238A46-6C4F-D20C-5DFE-8C4F5EE9861A}"/>
              </a:ext>
            </a:extLst>
          </p:cNvPr>
          <p:cNvSpPr/>
          <p:nvPr/>
        </p:nvSpPr>
        <p:spPr>
          <a:xfrm>
            <a:off x="1057835" y="1552731"/>
            <a:ext cx="10662568" cy="1440590"/>
          </a:xfrm>
          <a:prstGeom prst="roundRect">
            <a:avLst>
              <a:gd name="adj" fmla="val 60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FEAE27D-C6CA-0623-83FF-B033148DB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141413"/>
                </a:solidFill>
                <a:effectLst/>
                <a:latin typeface="+mj-ea"/>
              </a:rPr>
              <a:t>Introduction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C579B6-D201-CB9F-A5F5-3ED92AACA2F5}"/>
              </a:ext>
            </a:extLst>
          </p:cNvPr>
          <p:cNvSpPr txBox="1"/>
          <p:nvPr/>
        </p:nvSpPr>
        <p:spPr>
          <a:xfrm>
            <a:off x="4733365" y="3423893"/>
            <a:ext cx="2659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客观矛盾性</a:t>
            </a:r>
            <a:endParaRPr lang="en-US" altLang="zh-CN" b="0" i="0" u="none" strike="noStrike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objective ambivalence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CA83ED-0625-86CC-5A07-6CEFFF303E35}"/>
              </a:ext>
            </a:extLst>
          </p:cNvPr>
          <p:cNvSpPr txBox="1"/>
          <p:nvPr/>
        </p:nvSpPr>
        <p:spPr>
          <a:xfrm>
            <a:off x="8679558" y="3408989"/>
            <a:ext cx="2659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主观矛盾性</a:t>
            </a:r>
            <a:endParaRPr lang="en-US" altLang="zh-CN" b="0" i="0" u="none" strike="noStrike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subjective ambivalence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endParaRPr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271346D5-CE1A-AF70-1CF1-35B664DC75B6}"/>
              </a:ext>
            </a:extLst>
          </p:cNvPr>
          <p:cNvSpPr/>
          <p:nvPr/>
        </p:nvSpPr>
        <p:spPr>
          <a:xfrm>
            <a:off x="1279307" y="2139733"/>
            <a:ext cx="2431319" cy="7767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stability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91E8EC76-4B08-CC72-92A9-CE24DF430E2E}"/>
              </a:ext>
            </a:extLst>
          </p:cNvPr>
          <p:cNvSpPr/>
          <p:nvPr/>
        </p:nvSpPr>
        <p:spPr>
          <a:xfrm>
            <a:off x="1490657" y="1828158"/>
            <a:ext cx="2008621" cy="518662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attitude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FED73110-027A-72A9-529A-B18B0842C2D8}"/>
              </a:ext>
            </a:extLst>
          </p:cNvPr>
          <p:cNvSpPr/>
          <p:nvPr/>
        </p:nvSpPr>
        <p:spPr>
          <a:xfrm>
            <a:off x="4600595" y="1828158"/>
            <a:ext cx="2209906" cy="776775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accessibility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5834044C-612D-369C-61EA-44F3CF80E3D7}"/>
              </a:ext>
            </a:extLst>
          </p:cNvPr>
          <p:cNvSpPr/>
          <p:nvPr/>
        </p:nvSpPr>
        <p:spPr>
          <a:xfrm>
            <a:off x="6931524" y="1828158"/>
            <a:ext cx="2209906" cy="776775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importance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361BC439-5175-5E98-B669-2AB74FF3E5F3}"/>
              </a:ext>
            </a:extLst>
          </p:cNvPr>
          <p:cNvSpPr/>
          <p:nvPr/>
        </p:nvSpPr>
        <p:spPr>
          <a:xfrm>
            <a:off x="9262453" y="1828158"/>
            <a:ext cx="2209906" cy="776775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……</a:t>
            </a:r>
          </a:p>
        </p:txBody>
      </p:sp>
      <p:sp>
        <p:nvSpPr>
          <p:cNvPr id="35" name="虚尾箭头 34">
            <a:extLst>
              <a:ext uri="{FF2B5EF4-FFF2-40B4-BE49-F238E27FC236}">
                <a16:creationId xmlns:a16="http://schemas.microsoft.com/office/drawing/2014/main" id="{64D32A7D-83D9-282E-7D94-9CA367EB1B5F}"/>
              </a:ext>
            </a:extLst>
          </p:cNvPr>
          <p:cNvSpPr/>
          <p:nvPr/>
        </p:nvSpPr>
        <p:spPr>
          <a:xfrm rot="5400000">
            <a:off x="2043516" y="2546557"/>
            <a:ext cx="847642" cy="2209905"/>
          </a:xfrm>
          <a:prstGeom prst="stripedRightArrow">
            <a:avLst>
              <a:gd name="adj1" fmla="val 50000"/>
              <a:gd name="adj2" fmla="val 8437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C80A2FD-23E4-6701-7B89-13EFF8A43003}"/>
              </a:ext>
            </a:extLst>
          </p:cNvPr>
          <p:cNvSpPr txBox="1"/>
          <p:nvPr/>
        </p:nvSpPr>
        <p:spPr>
          <a:xfrm>
            <a:off x="1594278" y="3408989"/>
            <a:ext cx="190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moderator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19A643A9-A7DA-24DD-A51F-0A584F9416B0}"/>
              </a:ext>
            </a:extLst>
          </p:cNvPr>
          <p:cNvSpPr/>
          <p:nvPr/>
        </p:nvSpPr>
        <p:spPr>
          <a:xfrm>
            <a:off x="1251678" y="5343580"/>
            <a:ext cx="2431319" cy="776775"/>
          </a:xfrm>
          <a:prstGeom prst="round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certainty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AA775F41-AB1B-D983-1F98-9A8B81F9E119}"/>
              </a:ext>
            </a:extLst>
          </p:cNvPr>
          <p:cNvSpPr/>
          <p:nvPr/>
        </p:nvSpPr>
        <p:spPr>
          <a:xfrm>
            <a:off x="1206800" y="4321068"/>
            <a:ext cx="2476197" cy="776775"/>
          </a:xfrm>
          <a:prstGeom prst="round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ambivalence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83C829C-0F95-4CEE-D59E-34BEDA5D6321}"/>
              </a:ext>
            </a:extLst>
          </p:cNvPr>
          <p:cNvSpPr txBox="1"/>
          <p:nvPr/>
        </p:nvSpPr>
        <p:spPr>
          <a:xfrm>
            <a:off x="5942677" y="5866750"/>
            <a:ext cx="1735645" cy="373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高确定性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79C6C0E-3EB1-FB84-F00C-50EC12C93DA9}"/>
              </a:ext>
            </a:extLst>
          </p:cNvPr>
          <p:cNvSpPr txBox="1"/>
          <p:nvPr/>
        </p:nvSpPr>
        <p:spPr>
          <a:xfrm>
            <a:off x="8394630" y="5933700"/>
            <a:ext cx="1735645" cy="373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低确定性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975A8D0-B34F-18FD-B985-8C4077D7AA38}"/>
              </a:ext>
            </a:extLst>
          </p:cNvPr>
          <p:cNvSpPr txBox="1"/>
          <p:nvPr/>
        </p:nvSpPr>
        <p:spPr>
          <a:xfrm>
            <a:off x="4600595" y="4555959"/>
            <a:ext cx="1735645" cy="373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高确定性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BDC510C-5E15-C7BC-69FC-9385E15C84FF}"/>
              </a:ext>
            </a:extLst>
          </p:cNvPr>
          <p:cNvSpPr txBox="1"/>
          <p:nvPr/>
        </p:nvSpPr>
        <p:spPr>
          <a:xfrm>
            <a:off x="6810500" y="4581312"/>
            <a:ext cx="1735645" cy="373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低确定性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309214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8E94C-0CB0-E3C7-CA2E-FCE6397F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+mj-ea"/>
              </a:rPr>
              <a:t>results</a:t>
            </a:r>
            <a:endParaRPr kumimoji="1" lang="zh-CN" altLang="en-US" b="1" dirty="0">
              <a:latin typeface="+mj-ea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5F9D0A6-6DC8-ACAE-1608-B27B1334DD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4182" y="1810301"/>
            <a:ext cx="3551104" cy="22294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CACBC01-44B1-0C03-9883-F59DB93F1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286" y="1850398"/>
            <a:ext cx="3551105" cy="22459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710035E-C3DE-CDB7-75D7-46D2C6423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158" y="1802361"/>
            <a:ext cx="3591045" cy="233198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6F5B3F2-1A29-D3AA-CC73-89988FB6109C}"/>
              </a:ext>
            </a:extLst>
          </p:cNvPr>
          <p:cNvSpPr txBox="1"/>
          <p:nvPr/>
        </p:nvSpPr>
        <p:spPr>
          <a:xfrm>
            <a:off x="1134909" y="4401014"/>
            <a:ext cx="626926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在控制了态度极端值之后，三个研究中的交互项（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Certainty × Ambivalence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）全部显著。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Study</a:t>
            </a:r>
            <a:r>
              <a:rPr lang="en-US" altLang="zh-CN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（有机食品）</a:t>
            </a:r>
            <a:r>
              <a:rPr lang="zh-CN" altLang="en-US" sz="2000" dirty="0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=.04,</a:t>
            </a:r>
            <a:r>
              <a:rPr lang="en-US" altLang="zh-CN" sz="20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(169)=2.28,</a:t>
            </a:r>
            <a:r>
              <a:rPr lang="en-US" altLang="zh-CN" sz="20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=.02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Study</a:t>
            </a:r>
            <a:r>
              <a:rPr lang="en-US" altLang="zh-CN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（酒精）</a:t>
            </a:r>
            <a:r>
              <a:rPr lang="zh-CN" altLang="en-US" sz="2000" dirty="0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=.07,</a:t>
            </a:r>
            <a:r>
              <a:rPr lang="en-US" altLang="zh-CN" sz="20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(130)=3.42,</a:t>
            </a:r>
            <a:r>
              <a:rPr lang="en-US" altLang="zh-CN" sz="20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&lt;.001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Study3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dirty="0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总统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候选人）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=.26,</a:t>
            </a:r>
            <a:r>
              <a:rPr lang="en-US" altLang="zh-CN" sz="20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(99)=2.38,</a:t>
            </a:r>
            <a:r>
              <a:rPr lang="en-US" altLang="zh-CN" sz="20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=.02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461273-DF1B-CEC4-3A02-74290444E1AA}"/>
              </a:ext>
            </a:extLst>
          </p:cNvPr>
          <p:cNvSpPr txBox="1"/>
          <p:nvPr/>
        </p:nvSpPr>
        <p:spPr>
          <a:xfrm>
            <a:off x="8116391" y="4401014"/>
            <a:ext cx="355110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联合分析（</a:t>
            </a:r>
            <a:r>
              <a:rPr lang="en-US" altLang="zh-CN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Combined Analysis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000" dirty="0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将三个研究数据合并后（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N=413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），交互项极其稳健（</a:t>
            </a:r>
            <a:r>
              <a:rPr lang="en-US" altLang="zh-CN" sz="20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=.23,</a:t>
            </a:r>
            <a:r>
              <a:rPr lang="en-US" altLang="zh-CN" sz="20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&lt;.001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），且不依赖于具体的研究对象。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4EC66C38-1920-2E56-A9BF-FCD16874A828}"/>
              </a:ext>
            </a:extLst>
          </p:cNvPr>
          <p:cNvCxnSpPr>
            <a:cxnSpLocks/>
          </p:cNvCxnSpPr>
          <p:nvPr/>
        </p:nvCxnSpPr>
        <p:spPr>
          <a:xfrm>
            <a:off x="7626083" y="4247126"/>
            <a:ext cx="0" cy="1989207"/>
          </a:xfrm>
          <a:prstGeom prst="line">
            <a:avLst/>
          </a:prstGeom>
          <a:ln w="571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D84FF5C-E17B-472F-A328-8DAE1DCA888D}"/>
              </a:ext>
            </a:extLst>
          </p:cNvPr>
          <p:cNvSpPr txBox="1"/>
          <p:nvPr/>
        </p:nvSpPr>
        <p:spPr>
          <a:xfrm>
            <a:off x="1791397" y="1345678"/>
            <a:ext cx="2079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sz="20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Study1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5DC6A2F-70FD-2994-E3C3-27CC808A3A78}"/>
              </a:ext>
            </a:extLst>
          </p:cNvPr>
          <p:cNvSpPr txBox="1"/>
          <p:nvPr/>
        </p:nvSpPr>
        <p:spPr>
          <a:xfrm>
            <a:off x="5546271" y="1343748"/>
            <a:ext cx="2079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sz="20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Study2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A73EE7F-2248-DE6E-EC50-8019FCEA78D0}"/>
              </a:ext>
            </a:extLst>
          </p:cNvPr>
          <p:cNvSpPr txBox="1"/>
          <p:nvPr/>
        </p:nvSpPr>
        <p:spPr>
          <a:xfrm>
            <a:off x="9120240" y="1343748"/>
            <a:ext cx="2079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sz="20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Study3</a:t>
            </a:r>
          </a:p>
        </p:txBody>
      </p:sp>
    </p:spTree>
    <p:extLst>
      <p:ext uri="{BB962C8B-B14F-4D97-AF65-F5344CB8AC3E}">
        <p14:creationId xmlns:p14="http://schemas.microsoft.com/office/powerpoint/2010/main" val="349422140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5D870-8ACB-DF10-30E4-FDD1FCF3F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8FF6FC-EF43-FE03-1F6B-97DD65A65F3C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、数据来源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A2DCFF4-8B0E-52F3-9479-29B845D06ADD}"/>
              </a:ext>
            </a:extLst>
          </p:cNvPr>
          <p:cNvGrpSpPr/>
          <p:nvPr/>
        </p:nvGrpSpPr>
        <p:grpSpPr>
          <a:xfrm>
            <a:off x="4115265" y="1192947"/>
            <a:ext cx="7314735" cy="5189993"/>
            <a:chOff x="3862071" y="1168594"/>
            <a:chExt cx="7567928" cy="5369640"/>
          </a:xfrm>
        </p:grpSpPr>
        <p:sp>
          <p:nvSpPr>
            <p:cNvPr id="14" name="Google Shape;1748;p70">
              <a:extLst>
                <a:ext uri="{FF2B5EF4-FFF2-40B4-BE49-F238E27FC236}">
                  <a16:creationId xmlns:a16="http://schemas.microsoft.com/office/drawing/2014/main" id="{BB4CD303-B4A6-4793-30D0-DD5CC24A44DD}"/>
                </a:ext>
              </a:extLst>
            </p:cNvPr>
            <p:cNvSpPr/>
            <p:nvPr/>
          </p:nvSpPr>
          <p:spPr>
            <a:xfrm>
              <a:off x="3862316" y="1168594"/>
              <a:ext cx="7567683" cy="536964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04775" dir="54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dirty="0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1F6E667-C7C1-BA27-D44C-847A97AC7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2215" y="1780519"/>
              <a:ext cx="7567683" cy="4757715"/>
            </a:xfrm>
            <a:prstGeom prst="rect">
              <a:avLst/>
            </a:prstGeom>
          </p:spPr>
        </p:pic>
        <p:sp>
          <p:nvSpPr>
            <p:cNvPr id="16" name="Google Shape;1750;p70">
              <a:extLst>
                <a:ext uri="{FF2B5EF4-FFF2-40B4-BE49-F238E27FC236}">
                  <a16:creationId xmlns:a16="http://schemas.microsoft.com/office/drawing/2014/main" id="{477FBB1B-F500-0971-5373-FDE4F420CB36}"/>
                </a:ext>
              </a:extLst>
            </p:cNvPr>
            <p:cNvSpPr/>
            <p:nvPr/>
          </p:nvSpPr>
          <p:spPr>
            <a:xfrm>
              <a:off x="3862071" y="1168594"/>
              <a:ext cx="7567827" cy="611926"/>
            </a:xfrm>
            <a:prstGeom prst="rect">
              <a:avLst/>
            </a:prstGeom>
            <a:solidFill>
              <a:srgbClr val="53AE6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7" name="Google Shape;1751;p70">
              <a:extLst>
                <a:ext uri="{FF2B5EF4-FFF2-40B4-BE49-F238E27FC236}">
                  <a16:creationId xmlns:a16="http://schemas.microsoft.com/office/drawing/2014/main" id="{FD1DB0A2-ECE8-AB2F-B0FF-0317F24698F5}"/>
                </a:ext>
              </a:extLst>
            </p:cNvPr>
            <p:cNvGrpSpPr/>
            <p:nvPr/>
          </p:nvGrpSpPr>
          <p:grpSpPr>
            <a:xfrm>
              <a:off x="10294923" y="1344116"/>
              <a:ext cx="866734" cy="260956"/>
              <a:chOff x="7302375" y="739400"/>
              <a:chExt cx="386525" cy="116375"/>
            </a:xfrm>
          </p:grpSpPr>
          <p:sp>
            <p:nvSpPr>
              <p:cNvPr id="18" name="Google Shape;1752;p70">
                <a:extLst>
                  <a:ext uri="{FF2B5EF4-FFF2-40B4-BE49-F238E27FC236}">
                    <a16:creationId xmlns:a16="http://schemas.microsoft.com/office/drawing/2014/main" id="{14F963CB-D5C6-921F-CB9C-BDC4C79F7217}"/>
                  </a:ext>
                </a:extLst>
              </p:cNvPr>
              <p:cNvSpPr/>
              <p:nvPr/>
            </p:nvSpPr>
            <p:spPr>
              <a:xfrm>
                <a:off x="7307425" y="744125"/>
                <a:ext cx="106600" cy="106600"/>
              </a:xfrm>
              <a:custGeom>
                <a:avLst/>
                <a:gdLst/>
                <a:ahLst/>
                <a:cxnLst/>
                <a:rect l="l" t="t" r="r" b="b"/>
                <a:pathLst>
                  <a:path w="4264" h="4264" extrusionOk="0">
                    <a:moveTo>
                      <a:pt x="0" y="0"/>
                    </a:moveTo>
                    <a:lnTo>
                      <a:pt x="0" y="4263"/>
                    </a:lnTo>
                    <a:lnTo>
                      <a:pt x="4263" y="4263"/>
                    </a:lnTo>
                    <a:lnTo>
                      <a:pt x="42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753;p70">
                <a:extLst>
                  <a:ext uri="{FF2B5EF4-FFF2-40B4-BE49-F238E27FC236}">
                    <a16:creationId xmlns:a16="http://schemas.microsoft.com/office/drawing/2014/main" id="{F5C1EAF5-E35F-7454-C1BC-834C28D0DAC4}"/>
                  </a:ext>
                </a:extLst>
              </p:cNvPr>
              <p:cNvSpPr/>
              <p:nvPr/>
            </p:nvSpPr>
            <p:spPr>
              <a:xfrm>
                <a:off x="7302375" y="739400"/>
                <a:ext cx="116725" cy="116375"/>
              </a:xfrm>
              <a:custGeom>
                <a:avLst/>
                <a:gdLst/>
                <a:ahLst/>
                <a:cxnLst/>
                <a:rect l="l" t="t" r="r" b="b"/>
                <a:pathLst>
                  <a:path w="4669" h="4655" extrusionOk="0">
                    <a:moveTo>
                      <a:pt x="4276" y="391"/>
                    </a:moveTo>
                    <a:lnTo>
                      <a:pt x="4276" y="4263"/>
                    </a:lnTo>
                    <a:lnTo>
                      <a:pt x="405" y="4263"/>
                    </a:lnTo>
                    <a:lnTo>
                      <a:pt x="405" y="391"/>
                    </a:lnTo>
                    <a:close/>
                    <a:moveTo>
                      <a:pt x="1" y="0"/>
                    </a:moveTo>
                    <a:lnTo>
                      <a:pt x="1" y="4654"/>
                    </a:lnTo>
                    <a:lnTo>
                      <a:pt x="4668" y="4654"/>
                    </a:lnTo>
                    <a:lnTo>
                      <a:pt x="46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754;p70">
                <a:extLst>
                  <a:ext uri="{FF2B5EF4-FFF2-40B4-BE49-F238E27FC236}">
                    <a16:creationId xmlns:a16="http://schemas.microsoft.com/office/drawing/2014/main" id="{3653C2F7-3513-8483-379F-EF4BF58C8A86}"/>
                  </a:ext>
                </a:extLst>
              </p:cNvPr>
              <p:cNvSpPr/>
              <p:nvPr/>
            </p:nvSpPr>
            <p:spPr>
              <a:xfrm>
                <a:off x="7328000" y="792675"/>
                <a:ext cx="65775" cy="9800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392" extrusionOk="0">
                    <a:moveTo>
                      <a:pt x="1" y="1"/>
                    </a:moveTo>
                    <a:lnTo>
                      <a:pt x="1" y="392"/>
                    </a:lnTo>
                    <a:lnTo>
                      <a:pt x="2631" y="392"/>
                    </a:lnTo>
                    <a:lnTo>
                      <a:pt x="2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755;p70">
                <a:extLst>
                  <a:ext uri="{FF2B5EF4-FFF2-40B4-BE49-F238E27FC236}">
                    <a16:creationId xmlns:a16="http://schemas.microsoft.com/office/drawing/2014/main" id="{A1676720-75FC-B39B-92ED-6C7EF7CE0CFC}"/>
                  </a:ext>
                </a:extLst>
              </p:cNvPr>
              <p:cNvSpPr/>
              <p:nvPr/>
            </p:nvSpPr>
            <p:spPr>
              <a:xfrm>
                <a:off x="7577225" y="744125"/>
                <a:ext cx="106600" cy="106600"/>
              </a:xfrm>
              <a:custGeom>
                <a:avLst/>
                <a:gdLst/>
                <a:ahLst/>
                <a:cxnLst/>
                <a:rect l="l" t="t" r="r" b="b"/>
                <a:pathLst>
                  <a:path w="4264" h="4264" extrusionOk="0">
                    <a:moveTo>
                      <a:pt x="0" y="0"/>
                    </a:moveTo>
                    <a:lnTo>
                      <a:pt x="0" y="4263"/>
                    </a:lnTo>
                    <a:lnTo>
                      <a:pt x="4263" y="4263"/>
                    </a:lnTo>
                    <a:lnTo>
                      <a:pt x="42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756;p70">
                <a:extLst>
                  <a:ext uri="{FF2B5EF4-FFF2-40B4-BE49-F238E27FC236}">
                    <a16:creationId xmlns:a16="http://schemas.microsoft.com/office/drawing/2014/main" id="{112A474C-A31C-0B7D-CB33-94583488E604}"/>
                  </a:ext>
                </a:extLst>
              </p:cNvPr>
              <p:cNvSpPr/>
              <p:nvPr/>
            </p:nvSpPr>
            <p:spPr>
              <a:xfrm>
                <a:off x="7572175" y="739400"/>
                <a:ext cx="116725" cy="116375"/>
              </a:xfrm>
              <a:custGeom>
                <a:avLst/>
                <a:gdLst/>
                <a:ahLst/>
                <a:cxnLst/>
                <a:rect l="l" t="t" r="r" b="b"/>
                <a:pathLst>
                  <a:path w="4669" h="4655" extrusionOk="0">
                    <a:moveTo>
                      <a:pt x="4276" y="391"/>
                    </a:moveTo>
                    <a:lnTo>
                      <a:pt x="4276" y="4263"/>
                    </a:lnTo>
                    <a:lnTo>
                      <a:pt x="405" y="4263"/>
                    </a:lnTo>
                    <a:lnTo>
                      <a:pt x="405" y="391"/>
                    </a:lnTo>
                    <a:close/>
                    <a:moveTo>
                      <a:pt x="1" y="0"/>
                    </a:moveTo>
                    <a:lnTo>
                      <a:pt x="1" y="4654"/>
                    </a:lnTo>
                    <a:lnTo>
                      <a:pt x="4668" y="4654"/>
                    </a:lnTo>
                    <a:lnTo>
                      <a:pt x="46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757;p70">
                <a:extLst>
                  <a:ext uri="{FF2B5EF4-FFF2-40B4-BE49-F238E27FC236}">
                    <a16:creationId xmlns:a16="http://schemas.microsoft.com/office/drawing/2014/main" id="{62F7B7EC-8D3A-3A13-3119-34A1919890A5}"/>
                  </a:ext>
                </a:extLst>
              </p:cNvPr>
              <p:cNvSpPr/>
              <p:nvPr/>
            </p:nvSpPr>
            <p:spPr>
              <a:xfrm>
                <a:off x="7603875" y="770750"/>
                <a:ext cx="53625" cy="53650"/>
              </a:xfrm>
              <a:custGeom>
                <a:avLst/>
                <a:gdLst/>
                <a:ahLst/>
                <a:cxnLst/>
                <a:rect l="l" t="t" r="r" b="b"/>
                <a:pathLst>
                  <a:path w="2145" h="2146" extrusionOk="0">
                    <a:moveTo>
                      <a:pt x="283" y="1"/>
                    </a:moveTo>
                    <a:lnTo>
                      <a:pt x="1" y="284"/>
                    </a:lnTo>
                    <a:lnTo>
                      <a:pt x="1862" y="2146"/>
                    </a:lnTo>
                    <a:lnTo>
                      <a:pt x="2145" y="1862"/>
                    </a:lnTo>
                    <a:lnTo>
                      <a:pt x="2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758;p70">
                <a:extLst>
                  <a:ext uri="{FF2B5EF4-FFF2-40B4-BE49-F238E27FC236}">
                    <a16:creationId xmlns:a16="http://schemas.microsoft.com/office/drawing/2014/main" id="{8F7EDFC5-E370-A278-14B8-1D123F45DC1F}"/>
                  </a:ext>
                </a:extLst>
              </p:cNvPr>
              <p:cNvSpPr/>
              <p:nvPr/>
            </p:nvSpPr>
            <p:spPr>
              <a:xfrm>
                <a:off x="7603875" y="770750"/>
                <a:ext cx="53625" cy="53650"/>
              </a:xfrm>
              <a:custGeom>
                <a:avLst/>
                <a:gdLst/>
                <a:ahLst/>
                <a:cxnLst/>
                <a:rect l="l" t="t" r="r" b="b"/>
                <a:pathLst>
                  <a:path w="2145" h="2146" extrusionOk="0">
                    <a:moveTo>
                      <a:pt x="1862" y="1"/>
                    </a:moveTo>
                    <a:lnTo>
                      <a:pt x="1" y="1862"/>
                    </a:lnTo>
                    <a:lnTo>
                      <a:pt x="283" y="2146"/>
                    </a:lnTo>
                    <a:lnTo>
                      <a:pt x="2145" y="284"/>
                    </a:lnTo>
                    <a:lnTo>
                      <a:pt x="186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759;p70">
                <a:extLst>
                  <a:ext uri="{FF2B5EF4-FFF2-40B4-BE49-F238E27FC236}">
                    <a16:creationId xmlns:a16="http://schemas.microsoft.com/office/drawing/2014/main" id="{F3398241-CD9D-9065-4F34-158DE3E2DF37}"/>
                  </a:ext>
                </a:extLst>
              </p:cNvPr>
              <p:cNvSpPr/>
              <p:nvPr/>
            </p:nvSpPr>
            <p:spPr>
              <a:xfrm>
                <a:off x="7442325" y="744125"/>
                <a:ext cx="106600" cy="106600"/>
              </a:xfrm>
              <a:custGeom>
                <a:avLst/>
                <a:gdLst/>
                <a:ahLst/>
                <a:cxnLst/>
                <a:rect l="l" t="t" r="r" b="b"/>
                <a:pathLst>
                  <a:path w="4264" h="4264" extrusionOk="0">
                    <a:moveTo>
                      <a:pt x="0" y="0"/>
                    </a:moveTo>
                    <a:lnTo>
                      <a:pt x="0" y="4263"/>
                    </a:lnTo>
                    <a:lnTo>
                      <a:pt x="4263" y="4263"/>
                    </a:lnTo>
                    <a:lnTo>
                      <a:pt x="42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760;p70">
                <a:extLst>
                  <a:ext uri="{FF2B5EF4-FFF2-40B4-BE49-F238E27FC236}">
                    <a16:creationId xmlns:a16="http://schemas.microsoft.com/office/drawing/2014/main" id="{BA8D397B-BAB2-1F7D-2901-FDDE4B0875B1}"/>
                  </a:ext>
                </a:extLst>
              </p:cNvPr>
              <p:cNvSpPr/>
              <p:nvPr/>
            </p:nvSpPr>
            <p:spPr>
              <a:xfrm>
                <a:off x="7437275" y="739400"/>
                <a:ext cx="116725" cy="116375"/>
              </a:xfrm>
              <a:custGeom>
                <a:avLst/>
                <a:gdLst/>
                <a:ahLst/>
                <a:cxnLst/>
                <a:rect l="l" t="t" r="r" b="b"/>
                <a:pathLst>
                  <a:path w="4669" h="4655" extrusionOk="0">
                    <a:moveTo>
                      <a:pt x="4276" y="391"/>
                    </a:moveTo>
                    <a:lnTo>
                      <a:pt x="4276" y="4263"/>
                    </a:lnTo>
                    <a:lnTo>
                      <a:pt x="405" y="4263"/>
                    </a:lnTo>
                    <a:lnTo>
                      <a:pt x="405" y="391"/>
                    </a:lnTo>
                    <a:close/>
                    <a:moveTo>
                      <a:pt x="1" y="0"/>
                    </a:moveTo>
                    <a:lnTo>
                      <a:pt x="1" y="4654"/>
                    </a:lnTo>
                    <a:lnTo>
                      <a:pt x="4668" y="4654"/>
                    </a:lnTo>
                    <a:lnTo>
                      <a:pt x="46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761;p70">
                <a:extLst>
                  <a:ext uri="{FF2B5EF4-FFF2-40B4-BE49-F238E27FC236}">
                    <a16:creationId xmlns:a16="http://schemas.microsoft.com/office/drawing/2014/main" id="{4D489A85-D99D-D389-438C-39D85880CDEB}"/>
                  </a:ext>
                </a:extLst>
              </p:cNvPr>
              <p:cNvSpPr/>
              <p:nvPr/>
            </p:nvSpPr>
            <p:spPr>
              <a:xfrm>
                <a:off x="7466275" y="768400"/>
                <a:ext cx="58700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2334" extrusionOk="0">
                    <a:moveTo>
                      <a:pt x="1956" y="391"/>
                    </a:moveTo>
                    <a:lnTo>
                      <a:pt x="1956" y="1943"/>
                    </a:lnTo>
                    <a:lnTo>
                      <a:pt x="405" y="1943"/>
                    </a:lnTo>
                    <a:lnTo>
                      <a:pt x="405" y="391"/>
                    </a:lnTo>
                    <a:close/>
                    <a:moveTo>
                      <a:pt x="1" y="1"/>
                    </a:moveTo>
                    <a:lnTo>
                      <a:pt x="1" y="2334"/>
                    </a:lnTo>
                    <a:lnTo>
                      <a:pt x="2348" y="2334"/>
                    </a:lnTo>
                    <a:lnTo>
                      <a:pt x="23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0" name="图片 49">
            <a:extLst>
              <a:ext uri="{FF2B5EF4-FFF2-40B4-BE49-F238E27FC236}">
                <a16:creationId xmlns:a16="http://schemas.microsoft.com/office/drawing/2014/main" id="{B82B0FF2-DDC0-6F7B-9724-A2DE99755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701" y="2312420"/>
            <a:ext cx="3256935" cy="14744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3F89FFC-F896-B994-D9F4-B32048DE11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127" t="5044" b="70794"/>
          <a:stretch/>
        </p:blipFill>
        <p:spPr>
          <a:xfrm>
            <a:off x="8475688" y="4247194"/>
            <a:ext cx="2339665" cy="93021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E554B1-0C90-3B39-130F-FF71FA0D7F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321" y="3095451"/>
            <a:ext cx="3947375" cy="94687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2D054918-8E6B-3768-166B-4DB4F3BD58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546" y="2017208"/>
            <a:ext cx="7772400" cy="82615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23663077-CE1D-0814-411F-964FEEF7C1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3518" y="2193359"/>
            <a:ext cx="4942142" cy="4165520"/>
          </a:xfrm>
          <a:prstGeom prst="rect">
            <a:avLst/>
          </a:prstGeom>
          <a:ln w="38100">
            <a:solidFill>
              <a:srgbClr val="53AE6E"/>
            </a:solidFill>
          </a:ln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0A5DD927-D13B-53AE-28A6-D1219F753D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0084" y="1614118"/>
            <a:ext cx="5956273" cy="239099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13445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B1D6E-948B-E1DE-8CFA-C09817D8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950C8C-98D9-4605-2999-F30F7E4B4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A07BA1-F2C9-C256-E7A3-36F538852BF4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老师请就位</a:t>
            </a:r>
            <a:endParaRPr lang="zh-CN" altLang="en-US" sz="2800" b="1" i="0" dirty="0">
              <a:solidFill>
                <a:srgbClr val="0F111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891BA61-6300-0193-B9DC-6D637D197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77125" y="1290918"/>
            <a:ext cx="5552875" cy="5215201"/>
          </a:xfrm>
          <a:prstGeom prst="rect">
            <a:avLst/>
          </a:prstGeom>
          <a:ln w="57150">
            <a:solidFill>
              <a:srgbClr val="53AE6E"/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EE18D97-5A2D-411A-2205-61A6DD232FBD}"/>
              </a:ext>
            </a:extLst>
          </p:cNvPr>
          <p:cNvSpPr txBox="1"/>
          <p:nvPr/>
        </p:nvSpPr>
        <p:spPr>
          <a:xfrm>
            <a:off x="1251678" y="2325257"/>
            <a:ext cx="47678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0" dirty="0" err="1">
                <a:effectLst/>
                <a:latin typeface="+mj-ea"/>
                <a:ea typeface="+mj-ea"/>
              </a:rPr>
              <a:t>OpenCode</a:t>
            </a:r>
            <a:r>
              <a:rPr lang="zh-CN" altLang="en-US" sz="2400" i="0" dirty="0">
                <a:effectLst/>
                <a:latin typeface="+mj-ea"/>
                <a:ea typeface="+mj-ea"/>
              </a:rPr>
              <a:t> </a:t>
            </a:r>
            <a:r>
              <a:rPr lang="en-US" altLang="zh-CN" sz="2400" i="0" dirty="0">
                <a:effectLst/>
                <a:latin typeface="+mj-ea"/>
                <a:ea typeface="+mj-ea"/>
              </a:rPr>
              <a:t>Desktopv1.3.7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+mj-ea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+mj-ea"/>
                <a:ea typeface="+mj-ea"/>
              </a:rPr>
              <a:t>DeepSeek</a:t>
            </a:r>
            <a:r>
              <a:rPr lang="en-US" altLang="zh-CN" sz="2400" dirty="0">
                <a:latin typeface="+mj-ea"/>
                <a:ea typeface="+mj-ea"/>
              </a:rPr>
              <a:t> V4 Flash Free</a:t>
            </a:r>
            <a:endParaRPr lang="zh-CN" altLang="en-US" sz="2400" dirty="0">
              <a:latin typeface="+mj-ea"/>
              <a:ea typeface="+mj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4FB14A9-E028-362B-8A98-AF4A29626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451" y="3990114"/>
            <a:ext cx="2679106" cy="2473021"/>
          </a:xfrm>
          <a:prstGeom prst="rect">
            <a:avLst/>
          </a:prstGeom>
        </p:spPr>
      </p:pic>
      <p:sp>
        <p:nvSpPr>
          <p:cNvPr id="9" name="左大括号 8">
            <a:extLst>
              <a:ext uri="{FF2B5EF4-FFF2-40B4-BE49-F238E27FC236}">
                <a16:creationId xmlns:a16="http://schemas.microsoft.com/office/drawing/2014/main" id="{FF986CAD-D187-6418-E330-9F5DF6E6E621}"/>
              </a:ext>
            </a:extLst>
          </p:cNvPr>
          <p:cNvSpPr/>
          <p:nvPr/>
        </p:nvSpPr>
        <p:spPr>
          <a:xfrm flipH="1">
            <a:off x="5230793" y="4173343"/>
            <a:ext cx="646332" cy="2106561"/>
          </a:xfrm>
          <a:prstGeom prst="leftBrace">
            <a:avLst>
              <a:gd name="adj1" fmla="val 69133"/>
              <a:gd name="adj2" fmla="val 72084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520979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D50F3-8887-B1B4-1D49-0F6E9A4AF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2C0B5B-DACF-747C-9025-BD7F1212FFBD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、数据导入</a:t>
            </a:r>
          </a:p>
        </p:txBody>
      </p:sp>
      <p:pic>
        <p:nvPicPr>
          <p:cNvPr id="31" name="内容占位符 30">
            <a:extLst>
              <a:ext uri="{FF2B5EF4-FFF2-40B4-BE49-F238E27FC236}">
                <a16:creationId xmlns:a16="http://schemas.microsoft.com/office/drawing/2014/main" id="{9BC769A9-4E3F-9DF1-57B4-EDF370736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9167" y="2098623"/>
            <a:ext cx="9328303" cy="389744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E20BD13F-5A08-1194-E021-8509AF33C58B}"/>
              </a:ext>
            </a:extLst>
          </p:cNvPr>
          <p:cNvSpPr txBox="1"/>
          <p:nvPr/>
        </p:nvSpPr>
        <p:spPr>
          <a:xfrm>
            <a:off x="2086747" y="3859263"/>
            <a:ext cx="207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态度均值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10037FC-66E6-4150-271E-69663E80321E}"/>
              </a:ext>
            </a:extLst>
          </p:cNvPr>
          <p:cNvSpPr txBox="1"/>
          <p:nvPr/>
        </p:nvSpPr>
        <p:spPr>
          <a:xfrm>
            <a:off x="7708058" y="3407426"/>
            <a:ext cx="207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&lt;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客观矛盾性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3EE013E-7F12-C219-CD80-CC9B8C1D7502}"/>
              </a:ext>
            </a:extLst>
          </p:cNvPr>
          <p:cNvSpPr txBox="1"/>
          <p:nvPr/>
        </p:nvSpPr>
        <p:spPr>
          <a:xfrm>
            <a:off x="6668152" y="4228595"/>
            <a:ext cx="207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&lt;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态度稳定性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7E014A3-B0A4-356E-54AE-5444B4BAE1C3}"/>
              </a:ext>
            </a:extLst>
          </p:cNvPr>
          <p:cNvSpPr txBox="1"/>
          <p:nvPr/>
        </p:nvSpPr>
        <p:spPr>
          <a:xfrm>
            <a:off x="7227899" y="4517079"/>
            <a:ext cx="207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&lt;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主观矛盾性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D49BCE9-605B-37D7-8F9C-A62EF709DDDA}"/>
              </a:ext>
            </a:extLst>
          </p:cNvPr>
          <p:cNvSpPr txBox="1"/>
          <p:nvPr/>
        </p:nvSpPr>
        <p:spPr>
          <a:xfrm>
            <a:off x="2086747" y="5008768"/>
            <a:ext cx="207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确定性均值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914C7E0-2934-1E8A-CA0F-99065DC56168}"/>
              </a:ext>
            </a:extLst>
          </p:cNvPr>
          <p:cNvSpPr txBox="1"/>
          <p:nvPr/>
        </p:nvSpPr>
        <p:spPr>
          <a:xfrm>
            <a:off x="5628246" y="5626732"/>
            <a:ext cx="207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&lt;</a:t>
            </a:r>
            <a:r>
              <a:rPr lang="zh-CN" altLang="en-US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态度极端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性</a:t>
            </a:r>
          </a:p>
        </p:txBody>
      </p:sp>
    </p:spTree>
    <p:extLst>
      <p:ext uri="{BB962C8B-B14F-4D97-AF65-F5344CB8AC3E}">
        <p14:creationId xmlns:p14="http://schemas.microsoft.com/office/powerpoint/2010/main" val="43140934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34C7-D38D-977D-BB86-83E7AD41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75A5EAD3-3E7A-47B1-356E-F15749B42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70" y="4332944"/>
            <a:ext cx="7531100" cy="12954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355FE79-7CC2-8CC7-788C-0B9ADEF64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162" y="4917840"/>
            <a:ext cx="4382963" cy="1447447"/>
          </a:xfrm>
          <a:prstGeom prst="rect">
            <a:avLst/>
          </a:prstGeom>
        </p:spPr>
      </p:pic>
      <p:sp>
        <p:nvSpPr>
          <p:cNvPr id="27" name="圆角矩形 26">
            <a:extLst>
              <a:ext uri="{FF2B5EF4-FFF2-40B4-BE49-F238E27FC236}">
                <a16:creationId xmlns:a16="http://schemas.microsoft.com/office/drawing/2014/main" id="{6EB13035-7B03-4B3F-8475-3AD3F287BBC5}"/>
              </a:ext>
            </a:extLst>
          </p:cNvPr>
          <p:cNvSpPr/>
          <p:nvPr/>
        </p:nvSpPr>
        <p:spPr>
          <a:xfrm>
            <a:off x="3086678" y="4721327"/>
            <a:ext cx="8425447" cy="1777178"/>
          </a:xfrm>
          <a:prstGeom prst="round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A026697-CB61-3F92-7E45-399C5BE3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C0611BA5-53A6-A36C-D041-84F9651D2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342370" y="2326737"/>
            <a:ext cx="7035800" cy="19939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3D1003A-BC7A-977D-43BC-E4ED60C773E1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METHODS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数据处理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AC21572-0297-0397-1A5B-65DB6D62B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3903" y="1510257"/>
            <a:ext cx="4741802" cy="2529603"/>
          </a:xfrm>
          <a:prstGeom prst="rect">
            <a:avLst/>
          </a:prstGeom>
          <a:ln w="57150">
            <a:solidFill>
              <a:srgbClr val="53AE6E"/>
            </a:solidFill>
          </a:ln>
        </p:spPr>
      </p:pic>
      <p:sp>
        <p:nvSpPr>
          <p:cNvPr id="14" name="流程 13">
            <a:extLst>
              <a:ext uri="{FF2B5EF4-FFF2-40B4-BE49-F238E27FC236}">
                <a16:creationId xmlns:a16="http://schemas.microsoft.com/office/drawing/2014/main" id="{1756CB18-50F1-9C48-40FE-F16E112D3BE9}"/>
              </a:ext>
            </a:extLst>
          </p:cNvPr>
          <p:cNvSpPr/>
          <p:nvPr/>
        </p:nvSpPr>
        <p:spPr>
          <a:xfrm>
            <a:off x="7031418" y="1902267"/>
            <a:ext cx="4065426" cy="214768"/>
          </a:xfrm>
          <a:prstGeom prst="flowChartProcess">
            <a:avLst/>
          </a:prstGeom>
          <a:solidFill>
            <a:srgbClr val="53AE6E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流程 14">
            <a:extLst>
              <a:ext uri="{FF2B5EF4-FFF2-40B4-BE49-F238E27FC236}">
                <a16:creationId xmlns:a16="http://schemas.microsoft.com/office/drawing/2014/main" id="{DC08715E-F975-2517-3E62-56EDA30BBC85}"/>
              </a:ext>
            </a:extLst>
          </p:cNvPr>
          <p:cNvSpPr/>
          <p:nvPr/>
        </p:nvSpPr>
        <p:spPr>
          <a:xfrm>
            <a:off x="8873470" y="1682928"/>
            <a:ext cx="340104" cy="214768"/>
          </a:xfrm>
          <a:prstGeom prst="flowChartProcess">
            <a:avLst/>
          </a:prstGeom>
          <a:solidFill>
            <a:srgbClr val="53AE6E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流程 15">
            <a:extLst>
              <a:ext uri="{FF2B5EF4-FFF2-40B4-BE49-F238E27FC236}">
                <a16:creationId xmlns:a16="http://schemas.microsoft.com/office/drawing/2014/main" id="{6A85A567-990A-0CCC-178A-5A7361DD868F}"/>
              </a:ext>
            </a:extLst>
          </p:cNvPr>
          <p:cNvSpPr/>
          <p:nvPr/>
        </p:nvSpPr>
        <p:spPr>
          <a:xfrm>
            <a:off x="6443659" y="2087218"/>
            <a:ext cx="340104" cy="214768"/>
          </a:xfrm>
          <a:prstGeom prst="flowChartProcess">
            <a:avLst/>
          </a:prstGeom>
          <a:solidFill>
            <a:srgbClr val="53AE6E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流程 16">
            <a:extLst>
              <a:ext uri="{FF2B5EF4-FFF2-40B4-BE49-F238E27FC236}">
                <a16:creationId xmlns:a16="http://schemas.microsoft.com/office/drawing/2014/main" id="{7F8F19CB-C990-B53E-A61A-5BB36A691AEA}"/>
              </a:ext>
            </a:extLst>
          </p:cNvPr>
          <p:cNvSpPr/>
          <p:nvPr/>
        </p:nvSpPr>
        <p:spPr>
          <a:xfrm>
            <a:off x="7286515" y="2657309"/>
            <a:ext cx="1188412" cy="214768"/>
          </a:xfrm>
          <a:prstGeom prst="flowChartProcess">
            <a:avLst/>
          </a:prstGeom>
          <a:solidFill>
            <a:srgbClr val="53AE6E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2A9D59B-04CA-F18D-A4EE-FF6A3E7FD216}"/>
              </a:ext>
            </a:extLst>
          </p:cNvPr>
          <p:cNvSpPr/>
          <p:nvPr/>
        </p:nvSpPr>
        <p:spPr>
          <a:xfrm>
            <a:off x="6613711" y="3147617"/>
            <a:ext cx="1558295" cy="465755"/>
          </a:xfrm>
          <a:prstGeom prst="ellipse">
            <a:avLst/>
          </a:prstGeom>
          <a:noFill/>
          <a:ln w="57150">
            <a:solidFill>
              <a:srgbClr val="6364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96431DA-7CEC-DBC2-BBF5-2D4AA3A6EB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9753" y="4900065"/>
            <a:ext cx="3456334" cy="1482995"/>
          </a:xfrm>
          <a:prstGeom prst="rect">
            <a:avLst/>
          </a:prstGeom>
        </p:spPr>
      </p:pic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9201DBBE-A354-4575-C05A-6012CA22424A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7392859" y="3613372"/>
            <a:ext cx="0" cy="11651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3">
            <a:extLst>
              <a:ext uri="{FF2B5EF4-FFF2-40B4-BE49-F238E27FC236}">
                <a16:creationId xmlns:a16="http://schemas.microsoft.com/office/drawing/2014/main" id="{F1DAF8F4-4AD8-E527-20BB-31680249C410}"/>
              </a:ext>
            </a:extLst>
          </p:cNvPr>
          <p:cNvSpPr txBox="1">
            <a:spLocks/>
          </p:cNvSpPr>
          <p:nvPr/>
        </p:nvSpPr>
        <p:spPr>
          <a:xfrm>
            <a:off x="1251678" y="1885466"/>
            <a:ext cx="10178322" cy="549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数据筛选</a:t>
            </a:r>
          </a:p>
        </p:txBody>
      </p:sp>
    </p:spTree>
    <p:extLst>
      <p:ext uri="{BB962C8B-B14F-4D97-AF65-F5344CB8AC3E}">
        <p14:creationId xmlns:p14="http://schemas.microsoft.com/office/powerpoint/2010/main" val="13571194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9C4E-A862-851E-7665-78501F36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C98227-BEF6-0F8B-9DC3-4016DC13A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115449-C495-4047-4566-1FA2288ECAF2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METHODS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数据处理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CE7BCE-25C4-CC4D-B79B-63F37C8C2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85466"/>
            <a:ext cx="10178322" cy="549465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信度计算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838345-6FEA-503E-C54B-141CC7F64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679" y="2405776"/>
            <a:ext cx="7367666" cy="1330428"/>
          </a:xfrm>
          <a:prstGeom prst="rect">
            <a:avLst/>
          </a:prstGeom>
        </p:spPr>
      </p:pic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E7F912FE-2720-E987-7DBD-2267602B2FDC}"/>
              </a:ext>
            </a:extLst>
          </p:cNvPr>
          <p:cNvCxnSpPr>
            <a:cxnSpLocks/>
          </p:cNvCxnSpPr>
          <p:nvPr/>
        </p:nvCxnSpPr>
        <p:spPr>
          <a:xfrm>
            <a:off x="8749242" y="2655697"/>
            <a:ext cx="1105854" cy="1"/>
          </a:xfrm>
          <a:prstGeom prst="straightConnector1">
            <a:avLst/>
          </a:prstGeom>
          <a:ln w="38100">
            <a:solidFill>
              <a:srgbClr val="6364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D43E9E22-83DD-722D-C8F5-0347CC7C987D}"/>
              </a:ext>
            </a:extLst>
          </p:cNvPr>
          <p:cNvCxnSpPr>
            <a:cxnSpLocks/>
          </p:cNvCxnSpPr>
          <p:nvPr/>
        </p:nvCxnSpPr>
        <p:spPr>
          <a:xfrm>
            <a:off x="8749242" y="3412254"/>
            <a:ext cx="1105854" cy="1"/>
          </a:xfrm>
          <a:prstGeom prst="straightConnector1">
            <a:avLst/>
          </a:prstGeom>
          <a:ln w="38100">
            <a:solidFill>
              <a:srgbClr val="6364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 18">
            <a:extLst>
              <a:ext uri="{FF2B5EF4-FFF2-40B4-BE49-F238E27FC236}">
                <a16:creationId xmlns:a16="http://schemas.microsoft.com/office/drawing/2014/main" id="{C62FCE0C-F916-6950-7DFA-F89EC3FEBBDF}"/>
              </a:ext>
            </a:extLst>
          </p:cNvPr>
          <p:cNvSpPr/>
          <p:nvPr/>
        </p:nvSpPr>
        <p:spPr>
          <a:xfrm>
            <a:off x="1251678" y="2565757"/>
            <a:ext cx="863502" cy="228922"/>
          </a:xfrm>
          <a:prstGeom prst="flowChartProcess">
            <a:avLst/>
          </a:prstGeom>
          <a:solidFill>
            <a:srgbClr val="53AE6E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流程 20">
            <a:extLst>
              <a:ext uri="{FF2B5EF4-FFF2-40B4-BE49-F238E27FC236}">
                <a16:creationId xmlns:a16="http://schemas.microsoft.com/office/drawing/2014/main" id="{F222A27B-C023-5BBA-2CE1-D8DDDD599481}"/>
              </a:ext>
            </a:extLst>
          </p:cNvPr>
          <p:cNvSpPr/>
          <p:nvPr/>
        </p:nvSpPr>
        <p:spPr>
          <a:xfrm>
            <a:off x="1251678" y="3142171"/>
            <a:ext cx="514285" cy="228923"/>
          </a:xfrm>
          <a:prstGeom prst="flowChartProcess">
            <a:avLst/>
          </a:prstGeom>
          <a:solidFill>
            <a:srgbClr val="53AE6E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F08489-B9D0-8654-235F-AEF7ADD5B960}"/>
              </a:ext>
            </a:extLst>
          </p:cNvPr>
          <p:cNvSpPr txBox="1"/>
          <p:nvPr/>
        </p:nvSpPr>
        <p:spPr>
          <a:xfrm>
            <a:off x="9758573" y="2413216"/>
            <a:ext cx="207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400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原始数据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E727EA-0078-B471-92E8-17D84515628E}"/>
              </a:ext>
            </a:extLst>
          </p:cNvPr>
          <p:cNvSpPr txBox="1"/>
          <p:nvPr/>
        </p:nvSpPr>
        <p:spPr>
          <a:xfrm>
            <a:off x="9819240" y="3171356"/>
            <a:ext cx="207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400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剔除</a:t>
            </a:r>
            <a:r>
              <a:rPr lang="zh-CN" altLang="en-US" sz="2400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后数据</a:t>
            </a: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D6F1A215-97C0-C2FC-3E36-C902C5AD4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727887"/>
              </p:ext>
            </p:extLst>
          </p:nvPr>
        </p:nvGraphicFramePr>
        <p:xfrm>
          <a:off x="1251676" y="3836099"/>
          <a:ext cx="1017832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581">
                  <a:extLst>
                    <a:ext uri="{9D8B030D-6E8A-4147-A177-3AD203B41FA5}">
                      <a16:colId xmlns:a16="http://schemas.microsoft.com/office/drawing/2014/main" val="402528906"/>
                    </a:ext>
                  </a:extLst>
                </a:gridCol>
                <a:gridCol w="2544581">
                  <a:extLst>
                    <a:ext uri="{9D8B030D-6E8A-4147-A177-3AD203B41FA5}">
                      <a16:colId xmlns:a16="http://schemas.microsoft.com/office/drawing/2014/main" val="4056907419"/>
                    </a:ext>
                  </a:extLst>
                </a:gridCol>
                <a:gridCol w="2544581">
                  <a:extLst>
                    <a:ext uri="{9D8B030D-6E8A-4147-A177-3AD203B41FA5}">
                      <a16:colId xmlns:a16="http://schemas.microsoft.com/office/drawing/2014/main" val="2520929589"/>
                    </a:ext>
                  </a:extLst>
                </a:gridCol>
                <a:gridCol w="2544581">
                  <a:extLst>
                    <a:ext uri="{9D8B030D-6E8A-4147-A177-3AD203B41FA5}">
                      <a16:colId xmlns:a16="http://schemas.microsoft.com/office/drawing/2014/main" val="2357305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量表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原文报告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S1</a:t>
                      </a:r>
                      <a:r>
                        <a:rPr lang="zh-CN" altLang="en-US" dirty="0"/>
                        <a:t>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S1full</a:t>
                      </a:r>
                      <a:r>
                        <a:rPr lang="zh-CN" altLang="en-US" dirty="0"/>
                        <a:t>计算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957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态度（</a:t>
                      </a:r>
                      <a:r>
                        <a:rPr lang="en-US" altLang="zh-CN" dirty="0"/>
                        <a:t>T1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.90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.90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.9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608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态度（</a:t>
                      </a:r>
                      <a:r>
                        <a:rPr lang="en-US" altLang="zh-CN" dirty="0"/>
                        <a:t>T2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.9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.9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.9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30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确定性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en-US" dirty="0"/>
                        <a:t>清晰度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.9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.9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.9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73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确定性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en-US" dirty="0"/>
                        <a:t>正确性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181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总体确定性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</a:t>
                      </a: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82</a:t>
                      </a:r>
                      <a:endParaRPr lang="zh-CN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.9</a:t>
                      </a: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.9</a:t>
                      </a: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79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主观矛盾性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α = .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73)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21532"/>
                  </a:ext>
                </a:extLst>
              </a:tr>
            </a:tbl>
          </a:graphicData>
        </a:graphic>
      </p:graphicFrame>
      <p:pic>
        <p:nvPicPr>
          <p:cNvPr id="30" name="图片 29">
            <a:extLst>
              <a:ext uri="{FF2B5EF4-FFF2-40B4-BE49-F238E27FC236}">
                <a16:creationId xmlns:a16="http://schemas.microsoft.com/office/drawing/2014/main" id="{26FDC766-A871-23E9-2259-61900C51B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515" y="5686838"/>
            <a:ext cx="10916646" cy="375116"/>
          </a:xfrm>
          <a:prstGeom prst="rect">
            <a:avLst/>
          </a:prstGeom>
          <a:ln w="38100">
            <a:solidFill>
              <a:srgbClr val="636454"/>
            </a:solidFill>
          </a:ln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04C2CD2-0800-B786-4889-3AF704BCF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554" y="4055282"/>
            <a:ext cx="10529930" cy="11192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78268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773B-8648-844A-6B69-9153427CE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B4A5E-E6A1-6B7E-7ECC-744A1AF76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09FF73-A2E4-0F57-E11E-0646B9AF6AB8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数据分析</a:t>
            </a:r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8F1313D7-EE73-57FF-F60C-B6232F1A3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8499" y="2234991"/>
            <a:ext cx="7094090" cy="782710"/>
          </a:xfrm>
          <a:prstGeom prst="rect">
            <a:avLst/>
          </a:prstGeom>
        </p:spPr>
      </p:pic>
      <p:sp>
        <p:nvSpPr>
          <p:cNvPr id="5" name="内容占位符 3">
            <a:extLst>
              <a:ext uri="{FF2B5EF4-FFF2-40B4-BE49-F238E27FC236}">
                <a16:creationId xmlns:a16="http://schemas.microsoft.com/office/drawing/2014/main" id="{A3E76F70-3C40-D8A5-AC30-4231D477599A}"/>
              </a:ext>
            </a:extLst>
          </p:cNvPr>
          <p:cNvSpPr txBox="1">
            <a:spLocks/>
          </p:cNvSpPr>
          <p:nvPr/>
        </p:nvSpPr>
        <p:spPr>
          <a:xfrm>
            <a:off x="1251678" y="1885466"/>
            <a:ext cx="10178322" cy="549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相关和描述性统计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343EB05A-8F45-BD20-E8DD-20DF1123E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958173"/>
              </p:ext>
            </p:extLst>
          </p:nvPr>
        </p:nvGraphicFramePr>
        <p:xfrm>
          <a:off x="7182424" y="2992345"/>
          <a:ext cx="4484060" cy="34832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8406">
                  <a:extLst>
                    <a:ext uri="{9D8B030D-6E8A-4147-A177-3AD203B41FA5}">
                      <a16:colId xmlns:a16="http://schemas.microsoft.com/office/drawing/2014/main" val="2507673284"/>
                    </a:ext>
                  </a:extLst>
                </a:gridCol>
                <a:gridCol w="448406">
                  <a:extLst>
                    <a:ext uri="{9D8B030D-6E8A-4147-A177-3AD203B41FA5}">
                      <a16:colId xmlns:a16="http://schemas.microsoft.com/office/drawing/2014/main" val="2225676526"/>
                    </a:ext>
                  </a:extLst>
                </a:gridCol>
                <a:gridCol w="448406">
                  <a:extLst>
                    <a:ext uri="{9D8B030D-6E8A-4147-A177-3AD203B41FA5}">
                      <a16:colId xmlns:a16="http://schemas.microsoft.com/office/drawing/2014/main" val="3874353088"/>
                    </a:ext>
                  </a:extLst>
                </a:gridCol>
                <a:gridCol w="448406">
                  <a:extLst>
                    <a:ext uri="{9D8B030D-6E8A-4147-A177-3AD203B41FA5}">
                      <a16:colId xmlns:a16="http://schemas.microsoft.com/office/drawing/2014/main" val="1440496112"/>
                    </a:ext>
                  </a:extLst>
                </a:gridCol>
                <a:gridCol w="448406">
                  <a:extLst>
                    <a:ext uri="{9D8B030D-6E8A-4147-A177-3AD203B41FA5}">
                      <a16:colId xmlns:a16="http://schemas.microsoft.com/office/drawing/2014/main" val="3479275119"/>
                    </a:ext>
                  </a:extLst>
                </a:gridCol>
                <a:gridCol w="448406">
                  <a:extLst>
                    <a:ext uri="{9D8B030D-6E8A-4147-A177-3AD203B41FA5}">
                      <a16:colId xmlns:a16="http://schemas.microsoft.com/office/drawing/2014/main" val="1105014581"/>
                    </a:ext>
                  </a:extLst>
                </a:gridCol>
                <a:gridCol w="448406">
                  <a:extLst>
                    <a:ext uri="{9D8B030D-6E8A-4147-A177-3AD203B41FA5}">
                      <a16:colId xmlns:a16="http://schemas.microsoft.com/office/drawing/2014/main" val="3255181408"/>
                    </a:ext>
                  </a:extLst>
                </a:gridCol>
                <a:gridCol w="448406">
                  <a:extLst>
                    <a:ext uri="{9D8B030D-6E8A-4147-A177-3AD203B41FA5}">
                      <a16:colId xmlns:a16="http://schemas.microsoft.com/office/drawing/2014/main" val="209272433"/>
                    </a:ext>
                  </a:extLst>
                </a:gridCol>
                <a:gridCol w="448406">
                  <a:extLst>
                    <a:ext uri="{9D8B030D-6E8A-4147-A177-3AD203B41FA5}">
                      <a16:colId xmlns:a16="http://schemas.microsoft.com/office/drawing/2014/main" val="3446783406"/>
                    </a:ext>
                  </a:extLst>
                </a:gridCol>
                <a:gridCol w="448406">
                  <a:extLst>
                    <a:ext uri="{9D8B030D-6E8A-4147-A177-3AD203B41FA5}">
                      <a16:colId xmlns:a16="http://schemas.microsoft.com/office/drawing/2014/main" val="2528353643"/>
                    </a:ext>
                  </a:extLst>
                </a:gridCol>
              </a:tblGrid>
              <a:tr h="69665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变量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</a:t>
                      </a:r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原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</a:t>
                      </a:r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复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Mean_</a:t>
                      </a:r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原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Mean_</a:t>
                      </a:r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复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l-GR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δ_</a:t>
                      </a: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M(%)</a:t>
                      </a:r>
                      <a:endParaRPr lang="en-US" sz="14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SD_</a:t>
                      </a:r>
                      <a:r>
                        <a:rPr lang="zh-CN" altLang="en-US" sz="14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原</a:t>
                      </a:r>
                      <a:endParaRPr lang="zh-CN" altLang="en-US" sz="1400" b="1" kern="120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SD_</a:t>
                      </a:r>
                      <a:r>
                        <a:rPr lang="zh-CN" altLang="en-US" sz="14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复</a:t>
                      </a:r>
                      <a:endParaRPr lang="zh-CN" altLang="en-US" sz="1400" b="1" kern="120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l-GR" sz="14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δ_</a:t>
                      </a:r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SD(%)</a:t>
                      </a:r>
                      <a:endParaRPr lang="en-US" sz="1400" b="1" kern="120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评级</a:t>
                      </a:r>
                      <a:endParaRPr lang="zh-CN" altLang="en-US" sz="1400" b="1" kern="120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8606175"/>
                  </a:ext>
                </a:extLst>
              </a:tr>
              <a:tr h="69665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</a:t>
                      </a:r>
                      <a:endParaRPr lang="en-US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4.19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4.19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1.52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1.52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4480641"/>
                  </a:ext>
                </a:extLst>
              </a:tr>
              <a:tr h="69665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kern="1200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</a:t>
                      </a:r>
                      <a:endParaRPr lang="en-US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1.86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1.86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2320782"/>
                  </a:ext>
                </a:extLst>
              </a:tr>
              <a:tr h="69665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kern="1200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samb</a:t>
                      </a:r>
                      <a:endParaRPr lang="en-US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2.78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2.78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1.32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1.32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4952439"/>
                  </a:ext>
                </a:extLst>
              </a:tr>
              <a:tr h="69665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</a:t>
                      </a:r>
                      <a:endParaRPr lang="en-US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kern="12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4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4727369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A8F7FEFB-9D08-AD69-A97E-E32C53EA1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605229"/>
              </p:ext>
            </p:extLst>
          </p:nvPr>
        </p:nvGraphicFramePr>
        <p:xfrm>
          <a:off x="1048499" y="2985655"/>
          <a:ext cx="6009736" cy="3489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1217">
                  <a:extLst>
                    <a:ext uri="{9D8B030D-6E8A-4147-A177-3AD203B41FA5}">
                      <a16:colId xmlns:a16="http://schemas.microsoft.com/office/drawing/2014/main" val="532434772"/>
                    </a:ext>
                  </a:extLst>
                </a:gridCol>
                <a:gridCol w="751217">
                  <a:extLst>
                    <a:ext uri="{9D8B030D-6E8A-4147-A177-3AD203B41FA5}">
                      <a16:colId xmlns:a16="http://schemas.microsoft.com/office/drawing/2014/main" val="3324712982"/>
                    </a:ext>
                  </a:extLst>
                </a:gridCol>
                <a:gridCol w="751217">
                  <a:extLst>
                    <a:ext uri="{9D8B030D-6E8A-4147-A177-3AD203B41FA5}">
                      <a16:colId xmlns:a16="http://schemas.microsoft.com/office/drawing/2014/main" val="1346094465"/>
                    </a:ext>
                  </a:extLst>
                </a:gridCol>
                <a:gridCol w="751217">
                  <a:extLst>
                    <a:ext uri="{9D8B030D-6E8A-4147-A177-3AD203B41FA5}">
                      <a16:colId xmlns:a16="http://schemas.microsoft.com/office/drawing/2014/main" val="4194411507"/>
                    </a:ext>
                  </a:extLst>
                </a:gridCol>
                <a:gridCol w="751217">
                  <a:extLst>
                    <a:ext uri="{9D8B030D-6E8A-4147-A177-3AD203B41FA5}">
                      <a16:colId xmlns:a16="http://schemas.microsoft.com/office/drawing/2014/main" val="3742551736"/>
                    </a:ext>
                  </a:extLst>
                </a:gridCol>
                <a:gridCol w="751217">
                  <a:extLst>
                    <a:ext uri="{9D8B030D-6E8A-4147-A177-3AD203B41FA5}">
                      <a16:colId xmlns:a16="http://schemas.microsoft.com/office/drawing/2014/main" val="2453800186"/>
                    </a:ext>
                  </a:extLst>
                </a:gridCol>
                <a:gridCol w="751217">
                  <a:extLst>
                    <a:ext uri="{9D8B030D-6E8A-4147-A177-3AD203B41FA5}">
                      <a16:colId xmlns:a16="http://schemas.microsoft.com/office/drawing/2014/main" val="750823319"/>
                    </a:ext>
                  </a:extLst>
                </a:gridCol>
                <a:gridCol w="751217">
                  <a:extLst>
                    <a:ext uri="{9D8B030D-6E8A-4147-A177-3AD203B41FA5}">
                      <a16:colId xmlns:a16="http://schemas.microsoft.com/office/drawing/2014/main" val="801719039"/>
                    </a:ext>
                  </a:extLst>
                </a:gridCol>
              </a:tblGrid>
              <a:tr h="4362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相关系数对</a:t>
                      </a:r>
                      <a:endParaRPr lang="zh-CN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r_</a:t>
                      </a:r>
                      <a:r>
                        <a:rPr lang="zh-CN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原</a:t>
                      </a:r>
                      <a:endParaRPr lang="zh-CN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r_</a:t>
                      </a:r>
                      <a:r>
                        <a:rPr lang="zh-CN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复</a:t>
                      </a:r>
                      <a:endParaRPr lang="zh-CN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δ_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r(%)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</a:t>
                      </a:r>
                      <a:r>
                        <a:rPr lang="zh-CN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原</a:t>
                      </a:r>
                      <a:endParaRPr lang="zh-CN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</a:t>
                      </a:r>
                      <a:r>
                        <a:rPr lang="zh-CN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复</a:t>
                      </a:r>
                      <a:endParaRPr lang="zh-CN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推论</a:t>
                      </a:r>
                      <a:endParaRPr lang="zh-CN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评级</a:t>
                      </a:r>
                      <a:endParaRPr lang="zh-CN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6236341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cert-amb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&lt;.001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&lt;.001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1309837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cert-</a:t>
                      </a:r>
                      <a:r>
                        <a:rPr lang="en-US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-0.36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-0.36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&lt;.001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&lt;.001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6717522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amb-samb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&lt;.001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&lt;.001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2236997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cert-cha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2992902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-cha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6272079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samb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-cha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2912711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cert-</a:t>
                      </a:r>
                      <a:r>
                        <a:rPr lang="en-US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-0.36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-0.36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&lt;.001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&lt;.001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4271532"/>
                  </a:ext>
                </a:extLst>
              </a:tr>
            </a:tbl>
          </a:graphicData>
        </a:graphic>
      </p:graphicFrame>
      <p:pic>
        <p:nvPicPr>
          <p:cNvPr id="18" name="图片 17">
            <a:extLst>
              <a:ext uri="{FF2B5EF4-FFF2-40B4-BE49-F238E27FC236}">
                <a16:creationId xmlns:a16="http://schemas.microsoft.com/office/drawing/2014/main" id="{7DE6087D-3F3C-E240-1B5B-04D82D8B3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073" y="2286927"/>
            <a:ext cx="3122863" cy="65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768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C1AAD-283B-6CE6-204B-0F24D4C02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8E29F-DAD4-C83A-328F-DB77C6A9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B0A0AB-BFB8-7CE2-F12C-A4180C95321D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数据分析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47CE0186-A883-7D29-981F-AD2E4C2A49AE}"/>
              </a:ext>
            </a:extLst>
          </p:cNvPr>
          <p:cNvSpPr txBox="1">
            <a:spLocks/>
          </p:cNvSpPr>
          <p:nvPr/>
        </p:nvSpPr>
        <p:spPr>
          <a:xfrm>
            <a:off x="1251678" y="1885466"/>
            <a:ext cx="10178322" cy="549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回归分析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739CA00-30FB-97CA-6B68-C5B019739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49777" y="1099083"/>
            <a:ext cx="6760681" cy="35588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52DD6E8-5AA7-90C4-CB64-14D6EE5D6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204" y="4587990"/>
            <a:ext cx="6600539" cy="2039972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D4D4379A-1403-3125-8F82-841AAC72EF08}"/>
              </a:ext>
            </a:extLst>
          </p:cNvPr>
          <p:cNvSpPr/>
          <p:nvPr/>
        </p:nvSpPr>
        <p:spPr>
          <a:xfrm>
            <a:off x="1573846" y="5461557"/>
            <a:ext cx="2431319" cy="719907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尝试</a:t>
            </a:r>
            <a:r>
              <a:rPr lang="en-US" altLang="zh-CN" sz="2400" dirty="0" err="1">
                <a:latin typeface="+mj-ea"/>
                <a:ea typeface="+mj-ea"/>
              </a:rPr>
              <a:t>samb</a:t>
            </a:r>
            <a:r>
              <a:rPr lang="zh-CN" altLang="en-US" sz="2400" dirty="0">
                <a:latin typeface="+mj-ea"/>
                <a:ea typeface="+mj-ea"/>
              </a:rPr>
              <a:t>模型</a:t>
            </a:r>
          </a:p>
        </p:txBody>
      </p:sp>
      <p:sp>
        <p:nvSpPr>
          <p:cNvPr id="19" name="虚尾箭头 18">
            <a:extLst>
              <a:ext uri="{FF2B5EF4-FFF2-40B4-BE49-F238E27FC236}">
                <a16:creationId xmlns:a16="http://schemas.microsoft.com/office/drawing/2014/main" id="{BAA93CA1-99FF-3D64-B8A4-B978DB3B0A34}"/>
              </a:ext>
            </a:extLst>
          </p:cNvPr>
          <p:cNvSpPr/>
          <p:nvPr/>
        </p:nvSpPr>
        <p:spPr>
          <a:xfrm rot="5400000">
            <a:off x="2429550" y="4773496"/>
            <a:ext cx="719905" cy="978938"/>
          </a:xfrm>
          <a:prstGeom prst="stripedRightArrow">
            <a:avLst>
              <a:gd name="adj1" fmla="val 50000"/>
              <a:gd name="adj2" fmla="val 383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83F2BD2-AD05-62B8-79F9-86322A113FE0}"/>
              </a:ext>
            </a:extLst>
          </p:cNvPr>
          <p:cNvSpPr/>
          <p:nvPr/>
        </p:nvSpPr>
        <p:spPr>
          <a:xfrm>
            <a:off x="1573847" y="4499850"/>
            <a:ext cx="2431319" cy="719907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简单斜率分析</a:t>
            </a:r>
          </a:p>
        </p:txBody>
      </p:sp>
      <p:sp>
        <p:nvSpPr>
          <p:cNvPr id="18" name="虚尾箭头 17">
            <a:extLst>
              <a:ext uri="{FF2B5EF4-FFF2-40B4-BE49-F238E27FC236}">
                <a16:creationId xmlns:a16="http://schemas.microsoft.com/office/drawing/2014/main" id="{14986B4B-6053-4472-F915-5B813BFE5FC3}"/>
              </a:ext>
            </a:extLst>
          </p:cNvPr>
          <p:cNvSpPr/>
          <p:nvPr/>
        </p:nvSpPr>
        <p:spPr>
          <a:xfrm rot="5400000">
            <a:off x="2429551" y="3811790"/>
            <a:ext cx="719905" cy="978938"/>
          </a:xfrm>
          <a:prstGeom prst="stripedRightArrow">
            <a:avLst>
              <a:gd name="adj1" fmla="val 50000"/>
              <a:gd name="adj2" fmla="val 383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B980B65-F0C4-6735-5157-13B352A8F540}"/>
              </a:ext>
            </a:extLst>
          </p:cNvPr>
          <p:cNvSpPr/>
          <p:nvPr/>
        </p:nvSpPr>
        <p:spPr>
          <a:xfrm>
            <a:off x="1573848" y="3538143"/>
            <a:ext cx="2431319" cy="719907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加入交互项</a:t>
            </a:r>
          </a:p>
        </p:txBody>
      </p:sp>
      <p:sp>
        <p:nvSpPr>
          <p:cNvPr id="15" name="虚尾箭头 14">
            <a:extLst>
              <a:ext uri="{FF2B5EF4-FFF2-40B4-BE49-F238E27FC236}">
                <a16:creationId xmlns:a16="http://schemas.microsoft.com/office/drawing/2014/main" id="{DB2CB3CE-09C5-8881-5C2B-7A4B9CFE5B84}"/>
              </a:ext>
            </a:extLst>
          </p:cNvPr>
          <p:cNvSpPr/>
          <p:nvPr/>
        </p:nvSpPr>
        <p:spPr>
          <a:xfrm rot="5400000">
            <a:off x="2429552" y="2866368"/>
            <a:ext cx="719905" cy="978938"/>
          </a:xfrm>
          <a:prstGeom prst="stripedRightArrow">
            <a:avLst>
              <a:gd name="adj1" fmla="val 50000"/>
              <a:gd name="adj2" fmla="val 383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F59F053-25C2-5EA4-590A-74C7F421B79F}"/>
              </a:ext>
            </a:extLst>
          </p:cNvPr>
          <p:cNvSpPr/>
          <p:nvPr/>
        </p:nvSpPr>
        <p:spPr>
          <a:xfrm>
            <a:off x="1573848" y="2576436"/>
            <a:ext cx="2431319" cy="719907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主效应模型</a:t>
            </a:r>
          </a:p>
        </p:txBody>
      </p:sp>
    </p:spTree>
    <p:extLst>
      <p:ext uri="{BB962C8B-B14F-4D97-AF65-F5344CB8AC3E}">
        <p14:creationId xmlns:p14="http://schemas.microsoft.com/office/powerpoint/2010/main" val="188688471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91E01-9064-62DC-EBF7-A41E1092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4C06E-1AB4-A2C0-E4BD-0E78B956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4E2768-0BFF-C379-4E4C-4D748B4C8870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数据分析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EE699712-B5F7-6140-59BD-79854474B6BD}"/>
              </a:ext>
            </a:extLst>
          </p:cNvPr>
          <p:cNvSpPr txBox="1">
            <a:spLocks/>
          </p:cNvSpPr>
          <p:nvPr/>
        </p:nvSpPr>
        <p:spPr>
          <a:xfrm>
            <a:off x="1251678" y="1885466"/>
            <a:ext cx="10178322" cy="549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主效应</a:t>
            </a:r>
            <a:r>
              <a:rPr lang="en-US" altLang="zh-CN" sz="2400" dirty="0"/>
              <a:t>&amp;</a:t>
            </a:r>
            <a:r>
              <a:rPr lang="zh-CN" altLang="en-US" sz="2400" dirty="0"/>
              <a:t>交互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6BCD37DD-DFF9-F159-E8E7-440D5BC96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1205142"/>
              </p:ext>
            </p:extLst>
          </p:nvPr>
        </p:nvGraphicFramePr>
        <p:xfrm>
          <a:off x="1251678" y="2716414"/>
          <a:ext cx="10414808" cy="37592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01851">
                  <a:extLst>
                    <a:ext uri="{9D8B030D-6E8A-4147-A177-3AD203B41FA5}">
                      <a16:colId xmlns:a16="http://schemas.microsoft.com/office/drawing/2014/main" val="902009600"/>
                    </a:ext>
                  </a:extLst>
                </a:gridCol>
                <a:gridCol w="1301851">
                  <a:extLst>
                    <a:ext uri="{9D8B030D-6E8A-4147-A177-3AD203B41FA5}">
                      <a16:colId xmlns:a16="http://schemas.microsoft.com/office/drawing/2014/main" val="4118427251"/>
                    </a:ext>
                  </a:extLst>
                </a:gridCol>
                <a:gridCol w="1301851">
                  <a:extLst>
                    <a:ext uri="{9D8B030D-6E8A-4147-A177-3AD203B41FA5}">
                      <a16:colId xmlns:a16="http://schemas.microsoft.com/office/drawing/2014/main" val="1596670155"/>
                    </a:ext>
                  </a:extLst>
                </a:gridCol>
                <a:gridCol w="1301851">
                  <a:extLst>
                    <a:ext uri="{9D8B030D-6E8A-4147-A177-3AD203B41FA5}">
                      <a16:colId xmlns:a16="http://schemas.microsoft.com/office/drawing/2014/main" val="4087374203"/>
                    </a:ext>
                  </a:extLst>
                </a:gridCol>
                <a:gridCol w="1301851">
                  <a:extLst>
                    <a:ext uri="{9D8B030D-6E8A-4147-A177-3AD203B41FA5}">
                      <a16:colId xmlns:a16="http://schemas.microsoft.com/office/drawing/2014/main" val="380662675"/>
                    </a:ext>
                  </a:extLst>
                </a:gridCol>
                <a:gridCol w="1301851">
                  <a:extLst>
                    <a:ext uri="{9D8B030D-6E8A-4147-A177-3AD203B41FA5}">
                      <a16:colId xmlns:a16="http://schemas.microsoft.com/office/drawing/2014/main" val="2720160610"/>
                    </a:ext>
                  </a:extLst>
                </a:gridCol>
                <a:gridCol w="1301851">
                  <a:extLst>
                    <a:ext uri="{9D8B030D-6E8A-4147-A177-3AD203B41FA5}">
                      <a16:colId xmlns:a16="http://schemas.microsoft.com/office/drawing/2014/main" val="498335282"/>
                    </a:ext>
                  </a:extLst>
                </a:gridCol>
                <a:gridCol w="1301851">
                  <a:extLst>
                    <a:ext uri="{9D8B030D-6E8A-4147-A177-3AD203B41FA5}">
                      <a16:colId xmlns:a16="http://schemas.microsoft.com/office/drawing/2014/main" val="640156902"/>
                    </a:ext>
                  </a:extLst>
                </a:gridCol>
              </a:tblGrid>
              <a:tr h="4176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分析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效应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统计量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原值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复现值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δ(%)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推论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评级</a:t>
                      </a:r>
                    </a:p>
                  </a:txBody>
                  <a:tcPr marL="43509" marR="43509" marT="0" marB="0" anchor="ctr"/>
                </a:tc>
                <a:extLst>
                  <a:ext uri="{0D108BD9-81ED-4DB2-BD59-A6C34878D82A}">
                    <a16:rowId xmlns:a16="http://schemas.microsoft.com/office/drawing/2014/main" val="3029261584"/>
                  </a:ext>
                </a:extLst>
              </a:tr>
              <a:tr h="417689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主效应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Extremity-B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-0.17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-0.17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</a:p>
                  </a:txBody>
                  <a:tcPr marL="43509" marR="43509" marT="0" marB="0" anchor="ctr"/>
                </a:tc>
                <a:extLst>
                  <a:ext uri="{0D108BD9-81ED-4DB2-BD59-A6C34878D82A}">
                    <a16:rowId xmlns:a16="http://schemas.microsoft.com/office/drawing/2014/main" val="3878661442"/>
                  </a:ext>
                </a:extLst>
              </a:tr>
              <a:tr h="4176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3509" marR="43509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Extremity-t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-2.97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-2.97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</a:p>
                  </a:txBody>
                  <a:tcPr marL="43509" marR="43509" marT="0" marB="0" anchor="ctr"/>
                </a:tc>
                <a:extLst>
                  <a:ext uri="{0D108BD9-81ED-4DB2-BD59-A6C34878D82A}">
                    <a16:rowId xmlns:a16="http://schemas.microsoft.com/office/drawing/2014/main" val="2629002294"/>
                  </a:ext>
                </a:extLst>
              </a:tr>
              <a:tr h="41768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09" marR="43509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Extremity-p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0.003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0.003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</a:p>
                  </a:txBody>
                  <a:tcPr marL="43509" marR="43509" marT="0" marB="0" anchor="ctr"/>
                </a:tc>
                <a:extLst>
                  <a:ext uri="{0D108BD9-81ED-4DB2-BD59-A6C34878D82A}">
                    <a16:rowId xmlns:a16="http://schemas.microsoft.com/office/drawing/2014/main" val="1789453282"/>
                  </a:ext>
                </a:extLst>
              </a:tr>
              <a:tr h="4176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主效应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(ns)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ns(p&gt;.30)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ns(p=.336)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无法比较</a:t>
                      </a:r>
                    </a:p>
                  </a:txBody>
                  <a:tcPr marL="43509" marR="43509" marT="0" marB="0" anchor="ctr"/>
                </a:tc>
                <a:extLst>
                  <a:ext uri="{0D108BD9-81ED-4DB2-BD59-A6C34878D82A}">
                    <a16:rowId xmlns:a16="http://schemas.microsoft.com/office/drawing/2014/main" val="3907441011"/>
                  </a:ext>
                </a:extLst>
              </a:tr>
              <a:tr h="4176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主效应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 (ns)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ns(p&gt;.30)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ns(p=.310)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无法比较</a:t>
                      </a:r>
                    </a:p>
                  </a:txBody>
                  <a:tcPr marL="43509" marR="43509" marT="0" marB="0" anchor="ctr"/>
                </a:tc>
                <a:extLst>
                  <a:ext uri="{0D108BD9-81ED-4DB2-BD59-A6C34878D82A}">
                    <a16:rowId xmlns:a16="http://schemas.microsoft.com/office/drawing/2014/main" val="2388130697"/>
                  </a:ext>
                </a:extLst>
              </a:tr>
              <a:tr h="417689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交互效应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amb×cert-B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</a:p>
                  </a:txBody>
                  <a:tcPr marL="43509" marR="43509" marT="0" marB="0" anchor="ctr"/>
                </a:tc>
                <a:extLst>
                  <a:ext uri="{0D108BD9-81ED-4DB2-BD59-A6C34878D82A}">
                    <a16:rowId xmlns:a16="http://schemas.microsoft.com/office/drawing/2014/main" val="2326967898"/>
                  </a:ext>
                </a:extLst>
              </a:tr>
              <a:tr h="4176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3509" marR="43509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amb×cert-t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2.28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2.28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</a:p>
                  </a:txBody>
                  <a:tcPr marL="43509" marR="43509" marT="0" marB="0" anchor="ctr"/>
                </a:tc>
                <a:extLst>
                  <a:ext uri="{0D108BD9-81ED-4DB2-BD59-A6C34878D82A}">
                    <a16:rowId xmlns:a16="http://schemas.microsoft.com/office/drawing/2014/main" val="3678752246"/>
                  </a:ext>
                </a:extLst>
              </a:tr>
              <a:tr h="41768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09" marR="43509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amb×cert-p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</a:p>
                  </a:txBody>
                  <a:tcPr marL="43509" marR="43509" marT="0" marB="0" anchor="ctr"/>
                </a:tc>
                <a:extLst>
                  <a:ext uri="{0D108BD9-81ED-4DB2-BD59-A6C34878D82A}">
                    <a16:rowId xmlns:a16="http://schemas.microsoft.com/office/drawing/2014/main" val="305174069"/>
                  </a:ext>
                </a:extLst>
              </a:tr>
            </a:tbl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6188B5F7-8491-B076-0B4C-2B8E2C584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460" y="1220547"/>
            <a:ext cx="5843299" cy="1355125"/>
          </a:xfrm>
          <a:prstGeom prst="rect">
            <a:avLst/>
          </a:prstGeom>
          <a:ln w="38100">
            <a:solidFill>
              <a:srgbClr val="53AE6E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69D04FD-C44B-E7A3-9AD4-CF25F46EE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051" y="1141218"/>
            <a:ext cx="6064046" cy="1166163"/>
          </a:xfrm>
          <a:prstGeom prst="rect">
            <a:avLst/>
          </a:prstGeom>
          <a:ln w="38100">
            <a:solidFill>
              <a:srgbClr val="53AE6E"/>
            </a:solidFill>
          </a:ln>
        </p:spPr>
      </p:pic>
    </p:spTree>
    <p:extLst>
      <p:ext uri="{BB962C8B-B14F-4D97-AF65-F5344CB8AC3E}">
        <p14:creationId xmlns:p14="http://schemas.microsoft.com/office/powerpoint/2010/main" val="212739448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A8826-4272-AEF1-9CAB-AA63BFA22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74301-CF02-B1F8-5826-3B7FDA987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A293A6-BBEB-9960-FC5B-F9AF177F6FA4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数据分析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76B89168-FA50-6DA5-D0AD-A0655FE56E7C}"/>
              </a:ext>
            </a:extLst>
          </p:cNvPr>
          <p:cNvSpPr txBox="1">
            <a:spLocks/>
          </p:cNvSpPr>
          <p:nvPr/>
        </p:nvSpPr>
        <p:spPr>
          <a:xfrm>
            <a:off x="1251678" y="1885466"/>
            <a:ext cx="10178322" cy="549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简单效应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483D989E-2639-9938-9A03-62D24506A4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7936875"/>
              </p:ext>
            </p:extLst>
          </p:nvPr>
        </p:nvGraphicFramePr>
        <p:xfrm>
          <a:off x="1100431" y="2499461"/>
          <a:ext cx="10480816" cy="39761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5573">
                  <a:extLst>
                    <a:ext uri="{9D8B030D-6E8A-4147-A177-3AD203B41FA5}">
                      <a16:colId xmlns:a16="http://schemas.microsoft.com/office/drawing/2014/main" val="3459448655"/>
                    </a:ext>
                  </a:extLst>
                </a:gridCol>
                <a:gridCol w="1694631">
                  <a:extLst>
                    <a:ext uri="{9D8B030D-6E8A-4147-A177-3AD203B41FA5}">
                      <a16:colId xmlns:a16="http://schemas.microsoft.com/office/drawing/2014/main" val="412481447"/>
                    </a:ext>
                  </a:extLst>
                </a:gridCol>
                <a:gridCol w="1310102">
                  <a:extLst>
                    <a:ext uri="{9D8B030D-6E8A-4147-A177-3AD203B41FA5}">
                      <a16:colId xmlns:a16="http://schemas.microsoft.com/office/drawing/2014/main" val="852188060"/>
                    </a:ext>
                  </a:extLst>
                </a:gridCol>
                <a:gridCol w="1310102">
                  <a:extLst>
                    <a:ext uri="{9D8B030D-6E8A-4147-A177-3AD203B41FA5}">
                      <a16:colId xmlns:a16="http://schemas.microsoft.com/office/drawing/2014/main" val="404591943"/>
                    </a:ext>
                  </a:extLst>
                </a:gridCol>
                <a:gridCol w="1310102">
                  <a:extLst>
                    <a:ext uri="{9D8B030D-6E8A-4147-A177-3AD203B41FA5}">
                      <a16:colId xmlns:a16="http://schemas.microsoft.com/office/drawing/2014/main" val="1329747277"/>
                    </a:ext>
                  </a:extLst>
                </a:gridCol>
                <a:gridCol w="1310102">
                  <a:extLst>
                    <a:ext uri="{9D8B030D-6E8A-4147-A177-3AD203B41FA5}">
                      <a16:colId xmlns:a16="http://schemas.microsoft.com/office/drawing/2014/main" val="2023588425"/>
                    </a:ext>
                  </a:extLst>
                </a:gridCol>
                <a:gridCol w="1310102">
                  <a:extLst>
                    <a:ext uri="{9D8B030D-6E8A-4147-A177-3AD203B41FA5}">
                      <a16:colId xmlns:a16="http://schemas.microsoft.com/office/drawing/2014/main" val="2487059768"/>
                    </a:ext>
                  </a:extLst>
                </a:gridCol>
                <a:gridCol w="1310102">
                  <a:extLst>
                    <a:ext uri="{9D8B030D-6E8A-4147-A177-3AD203B41FA5}">
                      <a16:colId xmlns:a16="http://schemas.microsoft.com/office/drawing/2014/main" val="2632864452"/>
                    </a:ext>
                  </a:extLst>
                </a:gridCol>
              </a:tblGrid>
              <a:tr h="3058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分析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效应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统计量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原值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复现值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δ(%)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推论</a:t>
                      </a:r>
                    </a:p>
                  </a:txBody>
                  <a:tcPr marL="43509" marR="4350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评级</a:t>
                      </a:r>
                    </a:p>
                  </a:txBody>
                  <a:tcPr marL="43509" marR="43509" marT="0" marB="0" anchor="ctr"/>
                </a:tc>
                <a:extLst>
                  <a:ext uri="{0D108BD9-81ED-4DB2-BD59-A6C34878D82A}">
                    <a16:rowId xmlns:a16="http://schemas.microsoft.com/office/drawing/2014/main" val="3053420940"/>
                  </a:ext>
                </a:extLst>
              </a:tr>
              <a:tr h="30585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简单斜率</a:t>
                      </a: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LowAmb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1204094721"/>
                  </a:ext>
                </a:extLst>
              </a:tr>
              <a:tr h="3058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LowAmb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-0.74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-0.74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754086510"/>
                  </a:ext>
                </a:extLst>
              </a:tr>
              <a:tr h="3058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LowAmb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1914959699"/>
                  </a:ext>
                </a:extLst>
              </a:tr>
              <a:tr h="30585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简单斜率</a:t>
                      </a: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HighAmb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2158079119"/>
                  </a:ext>
                </a:extLst>
              </a:tr>
              <a:tr h="3058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HighAmb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3789304466"/>
                  </a:ext>
                </a:extLst>
              </a:tr>
              <a:tr h="3058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HighAmb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3971164960"/>
                  </a:ext>
                </a:extLst>
              </a:tr>
              <a:tr h="30585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简单效应</a:t>
                      </a: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LowCert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1700384687"/>
                  </a:ext>
                </a:extLst>
              </a:tr>
              <a:tr h="3058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LowCert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-2.21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-2.21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2104513246"/>
                  </a:ext>
                </a:extLst>
              </a:tr>
              <a:tr h="3058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LowCert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2657976651"/>
                  </a:ext>
                </a:extLst>
              </a:tr>
              <a:tr h="30585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简单效应</a:t>
                      </a: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HighCert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122463185"/>
                  </a:ext>
                </a:extLst>
              </a:tr>
              <a:tr h="3058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HighCert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3000063754"/>
                  </a:ext>
                </a:extLst>
              </a:tr>
              <a:tr h="3058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HighCert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完全一致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63" marR="7763" marT="7763" marB="0" anchor="ctr"/>
                </a:tc>
                <a:extLst>
                  <a:ext uri="{0D108BD9-81ED-4DB2-BD59-A6C34878D82A}">
                    <a16:rowId xmlns:a16="http://schemas.microsoft.com/office/drawing/2014/main" val="2724203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61488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51E3-06EA-EDFD-6786-C39769C7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FD3630-1A5D-F4ED-9B08-CA766BD7C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D110F1-D493-BE94-3B35-2542BE6BC957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数据分析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A7AF5ED8-BD40-1F0F-0205-4C32D0AC1C97}"/>
              </a:ext>
            </a:extLst>
          </p:cNvPr>
          <p:cNvSpPr txBox="1">
            <a:spLocks/>
          </p:cNvSpPr>
          <p:nvPr/>
        </p:nvSpPr>
        <p:spPr>
          <a:xfrm>
            <a:off x="1251678" y="1885466"/>
            <a:ext cx="10178322" cy="549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err="1">
                <a:latin typeface="+mj-ea"/>
                <a:ea typeface="+mj-ea"/>
              </a:rPr>
              <a:t>samb</a:t>
            </a:r>
            <a:r>
              <a:rPr lang="zh-CN" altLang="en-US" sz="2400" dirty="0">
                <a:latin typeface="+mj-ea"/>
                <a:ea typeface="+mj-ea"/>
              </a:rPr>
              <a:t>模型</a:t>
            </a:r>
            <a:endParaRPr lang="zh-CN" altLang="en-US" sz="2400" dirty="0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0B520A07-AB8D-5EEA-94C5-713D9B9864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1417746"/>
              </p:ext>
            </p:extLst>
          </p:nvPr>
        </p:nvGraphicFramePr>
        <p:xfrm>
          <a:off x="4269669" y="2160198"/>
          <a:ext cx="7394032" cy="3802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4254">
                  <a:extLst>
                    <a:ext uri="{9D8B030D-6E8A-4147-A177-3AD203B41FA5}">
                      <a16:colId xmlns:a16="http://schemas.microsoft.com/office/drawing/2014/main" val="3926773267"/>
                    </a:ext>
                  </a:extLst>
                </a:gridCol>
                <a:gridCol w="924254">
                  <a:extLst>
                    <a:ext uri="{9D8B030D-6E8A-4147-A177-3AD203B41FA5}">
                      <a16:colId xmlns:a16="http://schemas.microsoft.com/office/drawing/2014/main" val="1729834137"/>
                    </a:ext>
                  </a:extLst>
                </a:gridCol>
                <a:gridCol w="924254">
                  <a:extLst>
                    <a:ext uri="{9D8B030D-6E8A-4147-A177-3AD203B41FA5}">
                      <a16:colId xmlns:a16="http://schemas.microsoft.com/office/drawing/2014/main" val="2143361338"/>
                    </a:ext>
                  </a:extLst>
                </a:gridCol>
                <a:gridCol w="924254">
                  <a:extLst>
                    <a:ext uri="{9D8B030D-6E8A-4147-A177-3AD203B41FA5}">
                      <a16:colId xmlns:a16="http://schemas.microsoft.com/office/drawing/2014/main" val="3809350010"/>
                    </a:ext>
                  </a:extLst>
                </a:gridCol>
                <a:gridCol w="924254">
                  <a:extLst>
                    <a:ext uri="{9D8B030D-6E8A-4147-A177-3AD203B41FA5}">
                      <a16:colId xmlns:a16="http://schemas.microsoft.com/office/drawing/2014/main" val="1234652112"/>
                    </a:ext>
                  </a:extLst>
                </a:gridCol>
                <a:gridCol w="924254">
                  <a:extLst>
                    <a:ext uri="{9D8B030D-6E8A-4147-A177-3AD203B41FA5}">
                      <a16:colId xmlns:a16="http://schemas.microsoft.com/office/drawing/2014/main" val="2155520084"/>
                    </a:ext>
                  </a:extLst>
                </a:gridCol>
                <a:gridCol w="924254">
                  <a:extLst>
                    <a:ext uri="{9D8B030D-6E8A-4147-A177-3AD203B41FA5}">
                      <a16:colId xmlns:a16="http://schemas.microsoft.com/office/drawing/2014/main" val="1337187976"/>
                    </a:ext>
                  </a:extLst>
                </a:gridCol>
                <a:gridCol w="924254">
                  <a:extLst>
                    <a:ext uri="{9D8B030D-6E8A-4147-A177-3AD203B41FA5}">
                      <a16:colId xmlns:a16="http://schemas.microsoft.com/office/drawing/2014/main" val="900277479"/>
                    </a:ext>
                  </a:extLst>
                </a:gridCol>
              </a:tblGrid>
              <a:tr h="9507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分析</a:t>
                      </a:r>
                      <a:endParaRPr lang="zh-CN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效应</a:t>
                      </a:r>
                      <a:endParaRPr lang="zh-CN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统计量</a:t>
                      </a:r>
                      <a:endParaRPr lang="zh-CN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原值</a:t>
                      </a:r>
                      <a:endParaRPr lang="zh-CN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复现</a:t>
                      </a:r>
                      <a:endParaRPr lang="zh-CN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600" b="1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δ%</a:t>
                      </a:r>
                      <a:endParaRPr lang="el-GR" sz="1600" b="1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推论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评级</a:t>
                      </a:r>
                      <a:endParaRPr lang="zh-CN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8460836"/>
                  </a:ext>
                </a:extLst>
              </a:tr>
              <a:tr h="9507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控制</a:t>
                      </a:r>
                      <a:r>
                        <a:rPr lang="en-US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cert-p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仍显著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无法比较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4574014"/>
                  </a:ext>
                </a:extLst>
              </a:tr>
              <a:tr h="9507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主效应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Samb(ns)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ns(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&gt;.12)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ns(p=.277)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无法比较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51690"/>
                  </a:ext>
                </a:extLst>
              </a:tr>
              <a:tr h="9507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替代模型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samb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cert-p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&gt;.12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一致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无法比较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440046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23198F3-D383-A287-81CA-67458294D930}"/>
              </a:ext>
            </a:extLst>
          </p:cNvPr>
          <p:cNvSpPr txBox="1"/>
          <p:nvPr/>
        </p:nvSpPr>
        <p:spPr>
          <a:xfrm>
            <a:off x="1251678" y="2496815"/>
            <a:ext cx="280006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amb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交互模型加入</a:t>
            </a:r>
            <a:r>
              <a:rPr lang="en-US" altLang="zh-CN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samb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作为协变量</a:t>
            </a:r>
            <a:r>
              <a:rPr lang="zh-CN" altLang="en-US" sz="2000" dirty="0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change ~ ex + </a:t>
            </a:r>
            <a:r>
              <a:rPr lang="en-US" altLang="zh-CN" sz="2000" dirty="0" err="1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samb</a:t>
            </a:r>
            <a:r>
              <a:rPr lang="en-US" altLang="zh-CN" sz="2000" dirty="0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+ </a:t>
            </a:r>
            <a:r>
              <a:rPr lang="en-US" altLang="zh-CN" sz="2000" dirty="0" err="1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amb</a:t>
            </a:r>
            <a:r>
              <a:rPr lang="en-US" altLang="zh-CN" sz="2000" dirty="0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* cert</a:t>
            </a:r>
            <a:r>
              <a:rPr lang="zh-CN" altLang="en-US" sz="2000" dirty="0">
                <a:solidFill>
                  <a:srgbClr val="0F1115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主效应模型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change ~ ex + </a:t>
            </a:r>
            <a:r>
              <a:rPr lang="en-US" altLang="zh-CN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samb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+ cert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交互模型（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~ ex +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cert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430696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8D6E-FBE5-0C98-D68A-34A256F1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681D7-95EC-2560-F573-2DBE2974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079C08-0F96-980D-F437-9FAE7F336397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GRAPHS</a:t>
            </a:r>
            <a:endParaRPr lang="zh-CN" altLang="en-US" sz="2800" b="1" i="0" dirty="0">
              <a:solidFill>
                <a:srgbClr val="0F111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0D72BBE-E7C7-0D72-D41F-4859449F8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992" y="1379047"/>
            <a:ext cx="4578782" cy="2606064"/>
          </a:xfrm>
          <a:prstGeom prst="rect">
            <a:avLst/>
          </a:prstGeom>
          <a:ln w="57150">
            <a:noFill/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974D4CA-6D20-EBFD-0C08-387E695D0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992" y="4254500"/>
            <a:ext cx="4578782" cy="2147941"/>
          </a:xfrm>
          <a:prstGeom prst="rect">
            <a:avLst/>
          </a:prstGeom>
          <a:ln w="57150">
            <a:noFill/>
          </a:ln>
        </p:spPr>
      </p:pic>
      <p:pic>
        <p:nvPicPr>
          <p:cNvPr id="18" name="内容占位符 17">
            <a:extLst>
              <a:ext uri="{FF2B5EF4-FFF2-40B4-BE49-F238E27FC236}">
                <a16:creationId xmlns:a16="http://schemas.microsoft.com/office/drawing/2014/main" id="{D852B194-6A93-3338-00E0-6B33969E8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392719" y="2141571"/>
            <a:ext cx="3855262" cy="3951886"/>
          </a:xfrm>
          <a:prstGeom prst="rect">
            <a:avLst/>
          </a:prstGeom>
          <a:ln w="57150">
            <a:solidFill>
              <a:srgbClr val="53AE6E"/>
            </a:solidFill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F955ABE-D77F-873B-63F6-ED5E7EC5A8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92720" y="2141571"/>
            <a:ext cx="3855262" cy="3951886"/>
          </a:xfrm>
          <a:prstGeom prst="rect">
            <a:avLst/>
          </a:prstGeom>
          <a:ln w="57150">
            <a:solidFill>
              <a:srgbClr val="53AE6E"/>
            </a:solidFill>
          </a:ln>
        </p:spPr>
      </p:pic>
    </p:spTree>
    <p:extLst>
      <p:ext uri="{BB962C8B-B14F-4D97-AF65-F5344CB8AC3E}">
        <p14:creationId xmlns:p14="http://schemas.microsoft.com/office/powerpoint/2010/main" val="40786884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E7576-5BE5-D7A6-8A82-3279871CD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669E9-37FF-53CA-6F6C-EA5AECCC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C54B46-25D2-7ACC-2E52-2383D0616111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GRAPHS</a:t>
            </a:r>
            <a:endParaRPr lang="zh-CN" altLang="en-US" sz="2800" b="1" i="0" dirty="0">
              <a:solidFill>
                <a:srgbClr val="0F111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1" name="内容占位符 20">
            <a:extLst>
              <a:ext uri="{FF2B5EF4-FFF2-40B4-BE49-F238E27FC236}">
                <a16:creationId xmlns:a16="http://schemas.microsoft.com/office/drawing/2014/main" id="{0D9A031B-9F8C-8E43-C74C-B61A267D0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9600" y="1990396"/>
            <a:ext cx="6075154" cy="4275027"/>
          </a:xfrm>
          <a:prstGeom prst="rect">
            <a:avLst/>
          </a:prstGeom>
          <a:ln w="38100">
            <a:solidFill>
              <a:srgbClr val="53AE6E"/>
            </a:solidFill>
          </a:ln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44FCB686-2DF2-3A3C-1BE5-EC090711C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864" y="1588227"/>
            <a:ext cx="4289388" cy="4677196"/>
          </a:xfrm>
          <a:prstGeom prst="rect">
            <a:avLst/>
          </a:prstGeom>
        </p:spPr>
      </p:pic>
      <p:sp>
        <p:nvSpPr>
          <p:cNvPr id="29" name="流程 28">
            <a:extLst>
              <a:ext uri="{FF2B5EF4-FFF2-40B4-BE49-F238E27FC236}">
                <a16:creationId xmlns:a16="http://schemas.microsoft.com/office/drawing/2014/main" id="{8CE64919-0402-F64A-8911-A743F66848FC}"/>
              </a:ext>
            </a:extLst>
          </p:cNvPr>
          <p:cNvSpPr/>
          <p:nvPr/>
        </p:nvSpPr>
        <p:spPr>
          <a:xfrm>
            <a:off x="7654228" y="3429000"/>
            <a:ext cx="2293706" cy="228600"/>
          </a:xfrm>
          <a:prstGeom prst="flowChartProcess">
            <a:avLst/>
          </a:prstGeom>
          <a:solidFill>
            <a:srgbClr val="53AE6E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流程 29">
            <a:extLst>
              <a:ext uri="{FF2B5EF4-FFF2-40B4-BE49-F238E27FC236}">
                <a16:creationId xmlns:a16="http://schemas.microsoft.com/office/drawing/2014/main" id="{91C32E6D-5228-008B-7E81-7F9FEEEA72AE}"/>
              </a:ext>
            </a:extLst>
          </p:cNvPr>
          <p:cNvSpPr/>
          <p:nvPr/>
        </p:nvSpPr>
        <p:spPr>
          <a:xfrm>
            <a:off x="7610527" y="1990396"/>
            <a:ext cx="1872712" cy="228600"/>
          </a:xfrm>
          <a:prstGeom prst="flowChartProcess">
            <a:avLst/>
          </a:prstGeom>
          <a:solidFill>
            <a:srgbClr val="53AE6E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AE6C85-C84E-2014-F6FC-73B937A24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240" y="4598710"/>
            <a:ext cx="4999421" cy="1342126"/>
          </a:xfrm>
          <a:prstGeom prst="rect">
            <a:avLst/>
          </a:prstGeom>
          <a:ln w="38100">
            <a:solidFill>
              <a:srgbClr val="53AE6E"/>
            </a:solidFill>
          </a:ln>
        </p:spPr>
      </p:pic>
    </p:spTree>
    <p:extLst>
      <p:ext uri="{BB962C8B-B14F-4D97-AF65-F5344CB8AC3E}">
        <p14:creationId xmlns:p14="http://schemas.microsoft.com/office/powerpoint/2010/main" val="414866648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99B85-22B7-3D0C-17B6-C76632484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147BFA-0C66-DBBA-D38D-BECDEB4A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0D44FA-AD95-CF09-08EE-97BFED9A6A60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study2……</a:t>
            </a:r>
            <a:endParaRPr lang="zh-CN" altLang="en-US" sz="2800" b="1" i="0" dirty="0">
              <a:solidFill>
                <a:srgbClr val="0F111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397A10B-9919-BDA5-5704-0D92D8BB2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295621"/>
              </p:ext>
            </p:extLst>
          </p:nvPr>
        </p:nvGraphicFramePr>
        <p:xfrm>
          <a:off x="1140031" y="2057201"/>
          <a:ext cx="6597808" cy="2398020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824726">
                  <a:extLst>
                    <a:ext uri="{9D8B030D-6E8A-4147-A177-3AD203B41FA5}">
                      <a16:colId xmlns:a16="http://schemas.microsoft.com/office/drawing/2014/main" val="2816719900"/>
                    </a:ext>
                  </a:extLst>
                </a:gridCol>
                <a:gridCol w="824726">
                  <a:extLst>
                    <a:ext uri="{9D8B030D-6E8A-4147-A177-3AD203B41FA5}">
                      <a16:colId xmlns:a16="http://schemas.microsoft.com/office/drawing/2014/main" val="1303338712"/>
                    </a:ext>
                  </a:extLst>
                </a:gridCol>
                <a:gridCol w="824726">
                  <a:extLst>
                    <a:ext uri="{9D8B030D-6E8A-4147-A177-3AD203B41FA5}">
                      <a16:colId xmlns:a16="http://schemas.microsoft.com/office/drawing/2014/main" val="1809113434"/>
                    </a:ext>
                  </a:extLst>
                </a:gridCol>
                <a:gridCol w="824726">
                  <a:extLst>
                    <a:ext uri="{9D8B030D-6E8A-4147-A177-3AD203B41FA5}">
                      <a16:colId xmlns:a16="http://schemas.microsoft.com/office/drawing/2014/main" val="2268933961"/>
                    </a:ext>
                  </a:extLst>
                </a:gridCol>
                <a:gridCol w="824726">
                  <a:extLst>
                    <a:ext uri="{9D8B030D-6E8A-4147-A177-3AD203B41FA5}">
                      <a16:colId xmlns:a16="http://schemas.microsoft.com/office/drawing/2014/main" val="1714830680"/>
                    </a:ext>
                  </a:extLst>
                </a:gridCol>
                <a:gridCol w="824726">
                  <a:extLst>
                    <a:ext uri="{9D8B030D-6E8A-4147-A177-3AD203B41FA5}">
                      <a16:colId xmlns:a16="http://schemas.microsoft.com/office/drawing/2014/main" val="2236724235"/>
                    </a:ext>
                  </a:extLst>
                </a:gridCol>
                <a:gridCol w="824726">
                  <a:extLst>
                    <a:ext uri="{9D8B030D-6E8A-4147-A177-3AD203B41FA5}">
                      <a16:colId xmlns:a16="http://schemas.microsoft.com/office/drawing/2014/main" val="1053539291"/>
                    </a:ext>
                  </a:extLst>
                </a:gridCol>
                <a:gridCol w="824726">
                  <a:extLst>
                    <a:ext uri="{9D8B030D-6E8A-4147-A177-3AD203B41FA5}">
                      <a16:colId xmlns:a16="http://schemas.microsoft.com/office/drawing/2014/main" val="2336217927"/>
                    </a:ext>
                  </a:extLst>
                </a:gridCol>
              </a:tblGrid>
              <a:tr h="25443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相关对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r</a:t>
                      </a:r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r</a:t>
                      </a:r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复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δ_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r%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复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推论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评级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1792243"/>
                  </a:ext>
                </a:extLst>
              </a:tr>
              <a:tr h="2544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cert-amb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-0.25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-0.25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1974321"/>
                  </a:ext>
                </a:extLst>
              </a:tr>
              <a:tr h="2544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cert-samb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-0.53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-0.53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7063271"/>
                  </a:ext>
                </a:extLst>
              </a:tr>
              <a:tr h="2544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amb-samb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0.38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0.37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2.63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次要偏差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8632706"/>
                  </a:ext>
                </a:extLst>
              </a:tr>
              <a:tr h="2544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cert-change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0.11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0.11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0.2252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0280598"/>
                  </a:ext>
                </a:extLst>
              </a:tr>
              <a:tr h="3292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amb-change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0.38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0.379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5870836"/>
                  </a:ext>
                </a:extLst>
              </a:tr>
              <a:tr h="3292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samb-change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-0.19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-0.19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0.03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0.0304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58462328"/>
                  </a:ext>
                </a:extLst>
              </a:tr>
              <a:tr h="3292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cert-amb(</a:t>
                      </a:r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全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N=545)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-0.29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-0.29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8928597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08226F2-8FB1-360C-5D97-C266C67FE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69377"/>
              </p:ext>
            </p:extLst>
          </p:nvPr>
        </p:nvGraphicFramePr>
        <p:xfrm>
          <a:off x="1140032" y="4592080"/>
          <a:ext cx="7607150" cy="1876425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760715">
                  <a:extLst>
                    <a:ext uri="{9D8B030D-6E8A-4147-A177-3AD203B41FA5}">
                      <a16:colId xmlns:a16="http://schemas.microsoft.com/office/drawing/2014/main" val="3933483832"/>
                    </a:ext>
                  </a:extLst>
                </a:gridCol>
                <a:gridCol w="760715">
                  <a:extLst>
                    <a:ext uri="{9D8B030D-6E8A-4147-A177-3AD203B41FA5}">
                      <a16:colId xmlns:a16="http://schemas.microsoft.com/office/drawing/2014/main" val="297387976"/>
                    </a:ext>
                  </a:extLst>
                </a:gridCol>
                <a:gridCol w="760715">
                  <a:extLst>
                    <a:ext uri="{9D8B030D-6E8A-4147-A177-3AD203B41FA5}">
                      <a16:colId xmlns:a16="http://schemas.microsoft.com/office/drawing/2014/main" val="4253645483"/>
                    </a:ext>
                  </a:extLst>
                </a:gridCol>
                <a:gridCol w="760715">
                  <a:extLst>
                    <a:ext uri="{9D8B030D-6E8A-4147-A177-3AD203B41FA5}">
                      <a16:colId xmlns:a16="http://schemas.microsoft.com/office/drawing/2014/main" val="1828133270"/>
                    </a:ext>
                  </a:extLst>
                </a:gridCol>
                <a:gridCol w="760715">
                  <a:extLst>
                    <a:ext uri="{9D8B030D-6E8A-4147-A177-3AD203B41FA5}">
                      <a16:colId xmlns:a16="http://schemas.microsoft.com/office/drawing/2014/main" val="3222667164"/>
                    </a:ext>
                  </a:extLst>
                </a:gridCol>
                <a:gridCol w="760715">
                  <a:extLst>
                    <a:ext uri="{9D8B030D-6E8A-4147-A177-3AD203B41FA5}">
                      <a16:colId xmlns:a16="http://schemas.microsoft.com/office/drawing/2014/main" val="1168853224"/>
                    </a:ext>
                  </a:extLst>
                </a:gridCol>
                <a:gridCol w="760715">
                  <a:extLst>
                    <a:ext uri="{9D8B030D-6E8A-4147-A177-3AD203B41FA5}">
                      <a16:colId xmlns:a16="http://schemas.microsoft.com/office/drawing/2014/main" val="392356855"/>
                    </a:ext>
                  </a:extLst>
                </a:gridCol>
                <a:gridCol w="760715">
                  <a:extLst>
                    <a:ext uri="{9D8B030D-6E8A-4147-A177-3AD203B41FA5}">
                      <a16:colId xmlns:a16="http://schemas.microsoft.com/office/drawing/2014/main" val="2200675464"/>
                    </a:ext>
                  </a:extLst>
                </a:gridCol>
                <a:gridCol w="760715">
                  <a:extLst>
                    <a:ext uri="{9D8B030D-6E8A-4147-A177-3AD203B41FA5}">
                      <a16:colId xmlns:a16="http://schemas.microsoft.com/office/drawing/2014/main" val="3275537723"/>
                    </a:ext>
                  </a:extLst>
                </a:gridCol>
                <a:gridCol w="760715">
                  <a:extLst>
                    <a:ext uri="{9D8B030D-6E8A-4147-A177-3AD203B41FA5}">
                      <a16:colId xmlns:a16="http://schemas.microsoft.com/office/drawing/2014/main" val="2714534163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变量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N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原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N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复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Mean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原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Mean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复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δ_</a:t>
                      </a: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Mean%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SD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原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SD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复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δ_</a:t>
                      </a: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SD%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评级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9119308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Certainty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4.68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4.68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1.38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1.38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85285020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Obj.Ambivalence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1.66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1.66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1848795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Subj.Ambivalence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2.94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2.94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918732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Attitude Change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0.79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0.79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0.73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0.73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660324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393E3C4-3A8F-6C03-60AD-C091DCFC2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10619"/>
              </p:ext>
            </p:extLst>
          </p:nvPr>
        </p:nvGraphicFramePr>
        <p:xfrm>
          <a:off x="3304585" y="1290918"/>
          <a:ext cx="5356952" cy="5122052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669619">
                  <a:extLst>
                    <a:ext uri="{9D8B030D-6E8A-4147-A177-3AD203B41FA5}">
                      <a16:colId xmlns:a16="http://schemas.microsoft.com/office/drawing/2014/main" val="2638557505"/>
                    </a:ext>
                  </a:extLst>
                </a:gridCol>
                <a:gridCol w="669619">
                  <a:extLst>
                    <a:ext uri="{9D8B030D-6E8A-4147-A177-3AD203B41FA5}">
                      <a16:colId xmlns:a16="http://schemas.microsoft.com/office/drawing/2014/main" val="4273465034"/>
                    </a:ext>
                  </a:extLst>
                </a:gridCol>
                <a:gridCol w="669619">
                  <a:extLst>
                    <a:ext uri="{9D8B030D-6E8A-4147-A177-3AD203B41FA5}">
                      <a16:colId xmlns:a16="http://schemas.microsoft.com/office/drawing/2014/main" val="1856622682"/>
                    </a:ext>
                  </a:extLst>
                </a:gridCol>
                <a:gridCol w="669619">
                  <a:extLst>
                    <a:ext uri="{9D8B030D-6E8A-4147-A177-3AD203B41FA5}">
                      <a16:colId xmlns:a16="http://schemas.microsoft.com/office/drawing/2014/main" val="3456295310"/>
                    </a:ext>
                  </a:extLst>
                </a:gridCol>
                <a:gridCol w="669619">
                  <a:extLst>
                    <a:ext uri="{9D8B030D-6E8A-4147-A177-3AD203B41FA5}">
                      <a16:colId xmlns:a16="http://schemas.microsoft.com/office/drawing/2014/main" val="1731578146"/>
                    </a:ext>
                  </a:extLst>
                </a:gridCol>
                <a:gridCol w="669619">
                  <a:extLst>
                    <a:ext uri="{9D8B030D-6E8A-4147-A177-3AD203B41FA5}">
                      <a16:colId xmlns:a16="http://schemas.microsoft.com/office/drawing/2014/main" val="811640173"/>
                    </a:ext>
                  </a:extLst>
                </a:gridCol>
                <a:gridCol w="669619">
                  <a:extLst>
                    <a:ext uri="{9D8B030D-6E8A-4147-A177-3AD203B41FA5}">
                      <a16:colId xmlns:a16="http://schemas.microsoft.com/office/drawing/2014/main" val="4292634490"/>
                    </a:ext>
                  </a:extLst>
                </a:gridCol>
                <a:gridCol w="669619">
                  <a:extLst>
                    <a:ext uri="{9D8B030D-6E8A-4147-A177-3AD203B41FA5}">
                      <a16:colId xmlns:a16="http://schemas.microsoft.com/office/drawing/2014/main" val="46036740"/>
                    </a:ext>
                  </a:extLst>
                </a:gridCol>
              </a:tblGrid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分析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统计量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原值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复现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δ%</a:t>
                      </a:r>
                      <a:endParaRPr lang="el-GR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推论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评级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1186229760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主效应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Extremity-B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0.31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0.31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443579452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主效应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Extremity-t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4.21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4.21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2809691062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主效应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Extremity-p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3263730609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主效应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Amb-B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0.06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0.06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2494198026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主效应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Amb-t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1.56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1.56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1571885664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主效应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Amb-p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0.12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0.121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舍入偏差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1711864446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主效应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Cert(ns)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综合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ns(p=.99)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ns(p=.993)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无法比较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2686568734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主效应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Samb(ns)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综合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N/R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ns(p=.816)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无法比较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无法比较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6277872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交互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amb×cert-B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0.07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0.07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3563440364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交互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amb×cert-t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3.42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3.42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4197394749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交互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amb×cert-p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1714353333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替代模型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samb×cert-p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无法比较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911507885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控制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samb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amb×cert-p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仍显著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&lt;.001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无法比较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3811452918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简单斜率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cert*LowAmb-B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-0.14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-0.14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626896524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简单斜率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cert*LowAmb-t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-2.35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-2.35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611239967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简单斜率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cert*LowAmb-p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0.02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0.021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舍入偏差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932638307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简单斜率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cert*HighAmb-B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0.14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0.14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1188252856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简单斜率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cert*HighAmb-t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2.32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2.32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1220845081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简单斜率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cert*HighAmb-p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0.02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0.022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舍入偏差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3378970220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amb*HighCert-B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0.13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0.13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3388588596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amb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*</a:t>
                      </a:r>
                      <a:r>
                        <a:rPr 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HighCert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3.12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3.12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2234834852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amb*HighCert-p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2997768111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amb*LowCert-B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1388216943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amb*LowCert-t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-1.42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-1.42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完全一致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3447177821"/>
                  </a:ext>
                </a:extLst>
              </a:tr>
              <a:tr h="1970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简单效应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amb*LowCert-p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0.16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0.158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一致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舍入偏差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495" marR="5495" marT="5495" marB="0" anchor="ctr"/>
                </a:tc>
                <a:extLst>
                  <a:ext uri="{0D108BD9-81ED-4DB2-BD59-A6C34878D82A}">
                    <a16:rowId xmlns:a16="http://schemas.microsoft.com/office/drawing/2014/main" val="2578806474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1170EE56-8D95-FF2F-39AB-5F240BA57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464" y="2265920"/>
            <a:ext cx="2505512" cy="2774950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B94B566-9E0D-9892-B0FC-054AB710A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676472"/>
              </p:ext>
            </p:extLst>
          </p:nvPr>
        </p:nvGraphicFramePr>
        <p:xfrm>
          <a:off x="8738248" y="1290918"/>
          <a:ext cx="3075759" cy="2895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3291">
                  <a:extLst>
                    <a:ext uri="{9D8B030D-6E8A-4147-A177-3AD203B41FA5}">
                      <a16:colId xmlns:a16="http://schemas.microsoft.com/office/drawing/2014/main" val="2994955447"/>
                    </a:ext>
                  </a:extLst>
                </a:gridCol>
                <a:gridCol w="788357">
                  <a:extLst>
                    <a:ext uri="{9D8B030D-6E8A-4147-A177-3AD203B41FA5}">
                      <a16:colId xmlns:a16="http://schemas.microsoft.com/office/drawing/2014/main" val="2351432176"/>
                    </a:ext>
                  </a:extLst>
                </a:gridCol>
                <a:gridCol w="744111">
                  <a:extLst>
                    <a:ext uri="{9D8B030D-6E8A-4147-A177-3AD203B41FA5}">
                      <a16:colId xmlns:a16="http://schemas.microsoft.com/office/drawing/2014/main" val="41536008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评估项目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effectLst/>
                        </a:rPr>
                        <a:t>数量</a:t>
                      </a:r>
                      <a:r>
                        <a:rPr lang="en-US" sz="1600" dirty="0">
                          <a:effectLst/>
                        </a:rPr>
                        <a:t>(N)</a:t>
                      </a:r>
                      <a:endParaRPr lang="zh-CN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effectLst/>
                        </a:rPr>
                        <a:t>百分比</a:t>
                      </a:r>
                      <a:r>
                        <a:rPr lang="en-US" sz="1600" dirty="0">
                          <a:effectLst/>
                        </a:rPr>
                        <a:t>(%)</a:t>
                      </a:r>
                      <a:endParaRPr lang="zh-CN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381415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完全一致</a:t>
                      </a:r>
                      <a:r>
                        <a:rPr lang="en-US" sz="1600">
                          <a:effectLst/>
                        </a:rPr>
                        <a:t> (δ = 0%)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33</a:t>
                      </a:r>
                      <a:endParaRPr lang="zh-CN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94.29%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83464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次要偏差</a:t>
                      </a:r>
                      <a:r>
                        <a:rPr lang="en-US" sz="1600">
                          <a:effectLst/>
                        </a:rPr>
                        <a:t> (0 &lt; δ &lt; 10%)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</a:t>
                      </a:r>
                      <a:endParaRPr lang="zh-CN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2.86%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142115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主要偏差</a:t>
                      </a:r>
                      <a:r>
                        <a:rPr lang="en-US" sz="1600">
                          <a:effectLst/>
                        </a:rPr>
                        <a:t> (δ≥10%)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0.0%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52234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无法比较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2.86%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05360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总计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35</a:t>
                      </a:r>
                      <a:endParaRPr lang="zh-CN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100%</a:t>
                      </a:r>
                      <a:endParaRPr lang="zh-CN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12588460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863F9D1-19FF-95E5-56B8-C1FDDC839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745808"/>
              </p:ext>
            </p:extLst>
          </p:nvPr>
        </p:nvGraphicFramePr>
        <p:xfrm>
          <a:off x="8729901" y="4592080"/>
          <a:ext cx="3092451" cy="152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0817">
                  <a:extLst>
                    <a:ext uri="{9D8B030D-6E8A-4147-A177-3AD203B41FA5}">
                      <a16:colId xmlns:a16="http://schemas.microsoft.com/office/drawing/2014/main" val="1319161487"/>
                    </a:ext>
                  </a:extLst>
                </a:gridCol>
                <a:gridCol w="1030817">
                  <a:extLst>
                    <a:ext uri="{9D8B030D-6E8A-4147-A177-3AD203B41FA5}">
                      <a16:colId xmlns:a16="http://schemas.microsoft.com/office/drawing/2014/main" val="1296947206"/>
                    </a:ext>
                  </a:extLst>
                </a:gridCol>
                <a:gridCol w="1030817">
                  <a:extLst>
                    <a:ext uri="{9D8B030D-6E8A-4147-A177-3AD203B41FA5}">
                      <a16:colId xmlns:a16="http://schemas.microsoft.com/office/drawing/2014/main" val="708799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推论一致性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effectLst/>
                        </a:rPr>
                        <a:t>数量</a:t>
                      </a:r>
                      <a:r>
                        <a:rPr lang="en-US" sz="1600" dirty="0">
                          <a:effectLst/>
                        </a:rPr>
                        <a:t>(N)</a:t>
                      </a:r>
                      <a:endParaRPr lang="zh-CN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effectLst/>
                        </a:rPr>
                        <a:t>百分比</a:t>
                      </a:r>
                      <a:r>
                        <a:rPr lang="en-US" sz="1600" dirty="0">
                          <a:effectLst/>
                        </a:rPr>
                        <a:t>(%)</a:t>
                      </a:r>
                      <a:endParaRPr lang="zh-CN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332728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一致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35</a:t>
                      </a:r>
                      <a:endParaRPr lang="zh-CN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100.0%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01564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不一致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0%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86755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总计</a:t>
                      </a:r>
                      <a:endParaRPr lang="zh-CN" sz="16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35</a:t>
                      </a:r>
                      <a:endParaRPr lang="zh-CN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100%</a:t>
                      </a:r>
                      <a:endParaRPr lang="zh-CN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16218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55488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C20E2-6B16-E258-4E10-0B501142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Other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978088C-DFBA-435A-2068-2A254B52B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2440847"/>
            <a:ext cx="6007100" cy="2857500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FFFBC35-B852-7BE5-52BD-75C95A385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3188826"/>
            <a:ext cx="5549900" cy="3149600"/>
          </a:xfrm>
          <a:prstGeom prst="rect">
            <a:avLst/>
          </a:prstGeom>
          <a:ln w="57150">
            <a:solidFill>
              <a:srgbClr val="53AE6E"/>
            </a:solidFill>
          </a:ln>
        </p:spPr>
      </p:pic>
      <p:sp>
        <p:nvSpPr>
          <p:cNvPr id="7" name="虚尾箭头 6">
            <a:extLst>
              <a:ext uri="{FF2B5EF4-FFF2-40B4-BE49-F238E27FC236}">
                <a16:creationId xmlns:a16="http://schemas.microsoft.com/office/drawing/2014/main" id="{57D2F79D-5B98-CAA7-DE32-C01A1DBD326D}"/>
              </a:ext>
            </a:extLst>
          </p:cNvPr>
          <p:cNvSpPr/>
          <p:nvPr/>
        </p:nvSpPr>
        <p:spPr>
          <a:xfrm rot="1800000">
            <a:off x="4739498" y="4369394"/>
            <a:ext cx="1027511" cy="978938"/>
          </a:xfrm>
          <a:prstGeom prst="stripedRightArrow">
            <a:avLst>
              <a:gd name="adj1" fmla="val 50000"/>
              <a:gd name="adj2" fmla="val 383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7116351-8435-5FC9-9B48-300F93BAA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532" y="1469552"/>
            <a:ext cx="1968500" cy="1676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2ED939-7787-6BDE-E052-7FE436C58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825" y="2458515"/>
            <a:ext cx="5549901" cy="3019486"/>
          </a:xfrm>
          <a:prstGeom prst="rect">
            <a:avLst/>
          </a:prstGeom>
          <a:ln w="57150">
            <a:solidFill>
              <a:srgbClr val="53AE6E"/>
            </a:solidFill>
          </a:ln>
        </p:spPr>
      </p:pic>
    </p:spTree>
    <p:extLst>
      <p:ext uri="{BB962C8B-B14F-4D97-AF65-F5344CB8AC3E}">
        <p14:creationId xmlns:p14="http://schemas.microsoft.com/office/powerpoint/2010/main" val="6715722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8CCB4-77C7-1CA8-64AF-0EF1E78B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Other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867A308-092C-8256-06F6-74F76B3C2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6137" y="1393825"/>
            <a:ext cx="14101328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B204A6B-1D24-0002-E303-4E71C9BD6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88131"/>
              </p:ext>
            </p:extLst>
          </p:nvPr>
        </p:nvGraphicFramePr>
        <p:xfrm>
          <a:off x="1450069" y="1851025"/>
          <a:ext cx="9743440" cy="35520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8688">
                  <a:extLst>
                    <a:ext uri="{9D8B030D-6E8A-4147-A177-3AD203B41FA5}">
                      <a16:colId xmlns:a16="http://schemas.microsoft.com/office/drawing/2014/main" val="3353620612"/>
                    </a:ext>
                  </a:extLst>
                </a:gridCol>
                <a:gridCol w="1948688">
                  <a:extLst>
                    <a:ext uri="{9D8B030D-6E8A-4147-A177-3AD203B41FA5}">
                      <a16:colId xmlns:a16="http://schemas.microsoft.com/office/drawing/2014/main" val="1284115041"/>
                    </a:ext>
                  </a:extLst>
                </a:gridCol>
                <a:gridCol w="1948688">
                  <a:extLst>
                    <a:ext uri="{9D8B030D-6E8A-4147-A177-3AD203B41FA5}">
                      <a16:colId xmlns:a16="http://schemas.microsoft.com/office/drawing/2014/main" val="2732860328"/>
                    </a:ext>
                  </a:extLst>
                </a:gridCol>
                <a:gridCol w="1948688">
                  <a:extLst>
                    <a:ext uri="{9D8B030D-6E8A-4147-A177-3AD203B41FA5}">
                      <a16:colId xmlns:a16="http://schemas.microsoft.com/office/drawing/2014/main" val="2834706489"/>
                    </a:ext>
                  </a:extLst>
                </a:gridCol>
                <a:gridCol w="1948688">
                  <a:extLst>
                    <a:ext uri="{9D8B030D-6E8A-4147-A177-3AD203B41FA5}">
                      <a16:colId xmlns:a16="http://schemas.microsoft.com/office/drawing/2014/main" val="3454879407"/>
                    </a:ext>
                  </a:extLst>
                </a:gridCol>
              </a:tblGrid>
              <a:tr h="5920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复现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ID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复现者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复现类型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样本量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alt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复现情况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4732323"/>
                  </a:ext>
                </a:extLst>
              </a:tr>
              <a:tr h="5920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y730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Angela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Somo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PBR</a:t>
                      </a: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（原代码重跑）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174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✅ </a:t>
                      </a: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精确复现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0310205"/>
                  </a:ext>
                </a:extLst>
              </a:tr>
              <a:tr h="5920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67116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Karolina Urbanska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PBR</a:t>
                      </a: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（原代码重跑）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174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✅ </a:t>
                      </a: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精确复现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28858171"/>
                  </a:ext>
                </a:extLst>
              </a:tr>
              <a:tr h="5920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9kzy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Iris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Zezelj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直接复现（新数据）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443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✅ </a:t>
                      </a: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复现成功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2377080"/>
                  </a:ext>
                </a:extLst>
              </a:tr>
              <a:tr h="5920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24316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Wichman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 &amp; Bailey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可推广性（换态度对象）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~370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❌ </a:t>
                      </a: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部分复现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869521"/>
                  </a:ext>
                </a:extLst>
              </a:tr>
              <a:tr h="5920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23my4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Andrew Tyner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元分析（整合多项研究）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813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✅ </a:t>
                      </a: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支持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7766220"/>
                  </a:ext>
                </a:extLst>
              </a:tr>
            </a:tbl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3447F874-022D-C1EB-DD13-8DD992018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38" y="3611232"/>
            <a:ext cx="10518621" cy="195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7926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>
            <a:extLst>
              <a:ext uri="{FF2B5EF4-FFF2-40B4-BE49-F238E27FC236}">
                <a16:creationId xmlns:a16="http://schemas.microsoft.com/office/drawing/2014/main" id="{DA01AF96-AC28-447F-B72B-94F9B8E67730}"/>
              </a:ext>
            </a:extLst>
          </p:cNvPr>
          <p:cNvSpPr/>
          <p:nvPr/>
        </p:nvSpPr>
        <p:spPr>
          <a:xfrm>
            <a:off x="1204993" y="5435699"/>
            <a:ext cx="10225007" cy="881230"/>
          </a:xfrm>
          <a:prstGeom prst="roundRect">
            <a:avLst>
              <a:gd name="adj" fmla="val 1271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EABD14-8772-AE1F-7BC6-3890599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Other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671355-07F0-1DA0-E3AC-C131A2434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625799"/>
            <a:ext cx="2631901" cy="31458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zh-CN" altLang="en-US" sz="1800" b="1" dirty="0"/>
              <a:t>方法：</a:t>
            </a:r>
            <a:r>
              <a:rPr kumimoji="1" lang="zh-CN" altLang="en-US" sz="1800" dirty="0"/>
              <a:t>复现原始方法</a:t>
            </a:r>
            <a:r>
              <a:rPr kumimoji="1" lang="en-US" altLang="zh-CN" sz="1800" dirty="0"/>
              <a:t>——</a:t>
            </a:r>
            <a:r>
              <a:rPr kumimoji="1" lang="zh-CN" altLang="en-US" sz="1800" dirty="0"/>
              <a:t>有机食品态度，两次测量，层次回归</a:t>
            </a:r>
          </a:p>
          <a:p>
            <a:pPr marL="0" indent="0">
              <a:buNone/>
            </a:pPr>
            <a:r>
              <a:rPr kumimoji="1" lang="zh-CN" altLang="en-US" sz="1800" b="1" dirty="0"/>
              <a:t>被试：</a:t>
            </a:r>
            <a:r>
              <a:rPr kumimoji="1" lang="en-US" altLang="zh-CN" sz="1800" dirty="0"/>
              <a:t>n = 443</a:t>
            </a:r>
          </a:p>
          <a:p>
            <a:pPr marL="0" indent="0">
              <a:buNone/>
            </a:pPr>
            <a:r>
              <a:rPr kumimoji="1" lang="zh-CN" altLang="en-US" sz="1800" b="1" dirty="0"/>
              <a:t>结果：</a:t>
            </a:r>
            <a:r>
              <a:rPr kumimoji="1" lang="zh-CN" altLang="en-US" sz="1800" dirty="0"/>
              <a:t>方向与原始结果一致。效果量在原始报告的</a:t>
            </a:r>
            <a:r>
              <a:rPr kumimoji="1" lang="en-US" altLang="zh-CN" sz="1800" dirty="0"/>
              <a:t>5%</a:t>
            </a:r>
            <a:r>
              <a:rPr kumimoji="1" lang="zh-CN" altLang="en-US" sz="1800" dirty="0"/>
              <a:t>以内，精确复现成功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B420593A-8848-DB79-8161-3B52AEFBBD31}"/>
              </a:ext>
            </a:extLst>
          </p:cNvPr>
          <p:cNvSpPr/>
          <p:nvPr/>
        </p:nvSpPr>
        <p:spPr>
          <a:xfrm>
            <a:off x="1061178" y="1473199"/>
            <a:ext cx="2964723" cy="10478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0F1115"/>
                </a:solidFill>
                <a:latin typeface="+mj-ea"/>
                <a:ea typeface="+mj-ea"/>
              </a:rPr>
              <a:t>9kyz</a:t>
            </a:r>
          </a:p>
          <a:p>
            <a:pPr algn="ctr"/>
            <a:r>
              <a:rPr lang="zh-CN" altLang="en-US" sz="2000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大规模直接复现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FD4FE0E-C9CF-93F9-AB83-C0F3DE8D7FDE}"/>
              </a:ext>
            </a:extLst>
          </p:cNvPr>
          <p:cNvSpPr/>
          <p:nvPr/>
        </p:nvSpPr>
        <p:spPr>
          <a:xfrm>
            <a:off x="4429771" y="1473198"/>
            <a:ext cx="3361391" cy="10478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0F1115"/>
                </a:solidFill>
                <a:latin typeface="+mj-ea"/>
                <a:ea typeface="+mj-ea"/>
              </a:rPr>
              <a:t>24316</a:t>
            </a:r>
          </a:p>
          <a:p>
            <a:pPr algn="ctr"/>
            <a:r>
              <a:rPr lang="zh-CN" altLang="en-US" sz="2000" i="0" u="none" strike="noStrike" dirty="0">
                <a:solidFill>
                  <a:srgbClr val="0F1115"/>
                </a:solidFill>
                <a:effectLst/>
                <a:latin typeface="+mj-ea"/>
                <a:ea typeface="+mj-ea"/>
              </a:rPr>
              <a:t>可推广性研究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E0717174-BCFE-29B0-D86E-4120A427AE4F}"/>
              </a:ext>
            </a:extLst>
          </p:cNvPr>
          <p:cNvSpPr txBox="1">
            <a:spLocks/>
          </p:cNvSpPr>
          <p:nvPr/>
        </p:nvSpPr>
        <p:spPr>
          <a:xfrm>
            <a:off x="4480620" y="2625797"/>
            <a:ext cx="3361391" cy="31458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1800" b="1" dirty="0"/>
              <a:t>方法：</a:t>
            </a:r>
            <a:r>
              <a:rPr kumimoji="1" lang="zh-CN" altLang="en-US" sz="1800" dirty="0"/>
              <a:t>采用三项交互模型检验 </a:t>
            </a:r>
            <a:r>
              <a:rPr kumimoji="1" lang="en-US" altLang="zh-CN" sz="1800" dirty="0"/>
              <a:t>certainty × ambivalence × T1 attitude </a:t>
            </a:r>
            <a:r>
              <a:rPr kumimoji="1" lang="zh-CN" altLang="en-US" sz="1800" dirty="0"/>
              <a:t>对 </a:t>
            </a:r>
            <a:r>
              <a:rPr kumimoji="1" lang="en-US" altLang="zh-CN" sz="1800" dirty="0"/>
              <a:t>T2 attitude </a:t>
            </a:r>
            <a:r>
              <a:rPr kumimoji="1" lang="zh-CN" altLang="en-US" sz="1800" dirty="0"/>
              <a:t>的预测</a:t>
            </a:r>
          </a:p>
          <a:p>
            <a:pPr marL="0" indent="0">
              <a:buNone/>
            </a:pPr>
            <a:r>
              <a:rPr kumimoji="1" lang="zh-CN" altLang="en-US" sz="1800" b="1" dirty="0"/>
              <a:t>结果：</a:t>
            </a:r>
            <a:r>
              <a:rPr kumimoji="1" lang="zh-CN" altLang="en-US" sz="1800" dirty="0"/>
              <a:t>三项交互结果不显著，可推广性有限，仅在使用特定分析策略（差值分数）才复现成功</a:t>
            </a:r>
            <a:endParaRPr kumimoji="1" lang="zh-CN" altLang="en-US" sz="2000" dirty="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A2D2B79-B4AF-9EC8-26A4-C015352E548A}"/>
              </a:ext>
            </a:extLst>
          </p:cNvPr>
          <p:cNvSpPr/>
          <p:nvPr/>
        </p:nvSpPr>
        <p:spPr>
          <a:xfrm>
            <a:off x="8208193" y="1473198"/>
            <a:ext cx="3361391" cy="10478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0F1115"/>
                </a:solidFill>
                <a:latin typeface="+mj-ea"/>
                <a:ea typeface="+mj-ea"/>
              </a:rPr>
              <a:t>23my4</a:t>
            </a:r>
          </a:p>
          <a:p>
            <a:pPr algn="ctr"/>
            <a:r>
              <a:rPr lang="zh-CN" altLang="en-US" sz="2000" dirty="0">
                <a:solidFill>
                  <a:srgbClr val="0F1115"/>
                </a:solidFill>
                <a:latin typeface="+mj-ea"/>
                <a:ea typeface="+mj-ea"/>
              </a:rPr>
              <a:t>元分析整合</a:t>
            </a:r>
            <a:endParaRPr lang="zh-CN" altLang="en-US" sz="2000" i="0" u="none" strike="noStrike" dirty="0">
              <a:solidFill>
                <a:srgbClr val="0F1115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9C88284D-AF6B-F73D-9571-63733E3B7991}"/>
              </a:ext>
            </a:extLst>
          </p:cNvPr>
          <p:cNvSpPr txBox="1">
            <a:spLocks/>
          </p:cNvSpPr>
          <p:nvPr/>
        </p:nvSpPr>
        <p:spPr>
          <a:xfrm>
            <a:off x="8427573" y="2625798"/>
            <a:ext cx="2922629" cy="31458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1800" b="1" dirty="0"/>
              <a:t>方法：</a:t>
            </a:r>
            <a:r>
              <a:rPr kumimoji="1" lang="zh-CN" altLang="en-US" sz="1800" dirty="0"/>
              <a:t>将 </a:t>
            </a:r>
            <a:r>
              <a:rPr kumimoji="1" lang="en-US" altLang="zh-CN" sz="1800" dirty="0"/>
              <a:t>9kzy</a:t>
            </a:r>
            <a:r>
              <a:rPr kumimoji="1" lang="zh-CN" altLang="en-US" sz="1800" dirty="0"/>
              <a:t>和 </a:t>
            </a:r>
            <a:r>
              <a:rPr kumimoji="1" lang="en-US" altLang="zh-CN" sz="1800" dirty="0"/>
              <a:t>24316</a:t>
            </a:r>
            <a:r>
              <a:rPr kumimoji="1" lang="zh-CN" altLang="en-US" sz="1800" dirty="0"/>
              <a:t>两个独立研究的偏相关效应量进行固定效应元分析</a:t>
            </a:r>
            <a:endParaRPr kumimoji="1" lang="en-US" altLang="zh-CN" sz="1800" dirty="0"/>
          </a:p>
          <a:p>
            <a:pPr marL="0" lvl="0" indent="0">
              <a:buNone/>
            </a:pPr>
            <a:r>
              <a:rPr kumimoji="1" lang="zh-CN" altLang="en-US" sz="1800" b="1" dirty="0"/>
              <a:t>结果：</a:t>
            </a:r>
            <a:r>
              <a:rPr kumimoji="1" lang="zh-CN" altLang="en-US" sz="1800" dirty="0"/>
              <a:t>聚合效应量 </a:t>
            </a:r>
            <a:r>
              <a:rPr kumimoji="1" lang="en-US" altLang="zh-CN" sz="1800" dirty="0"/>
              <a:t>r = 0.163 (SE = 0.035, z = 4.67, p &lt; .001)</a:t>
            </a:r>
            <a:r>
              <a:rPr kumimoji="1" lang="zh-CN" altLang="en-US" sz="1800" dirty="0"/>
              <a:t>，总样本 </a:t>
            </a:r>
            <a:r>
              <a:rPr kumimoji="1" lang="en-US" altLang="zh-CN" sz="1800" dirty="0"/>
              <a:t>n = 813</a:t>
            </a:r>
            <a:r>
              <a:rPr kumimoji="1" lang="zh-CN" altLang="en-US" sz="1800" dirty="0"/>
              <a:t>，元分析结果支持原始研究中交互效应的存在</a:t>
            </a:r>
            <a:endParaRPr kumimoji="1"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8B7EF6D-D1E0-3B9C-308A-08271E7BA931}"/>
              </a:ext>
            </a:extLst>
          </p:cNvPr>
          <p:cNvSpPr txBox="1"/>
          <p:nvPr/>
        </p:nvSpPr>
        <p:spPr>
          <a:xfrm>
            <a:off x="1061178" y="5629461"/>
            <a:ext cx="2964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标准化回归</a:t>
            </a:r>
            <a:endParaRPr lang="en-US" altLang="zh-CN" sz="24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A56A02-DC9B-A3E0-8905-0E9FDCB21379}"/>
              </a:ext>
            </a:extLst>
          </p:cNvPr>
          <p:cNvSpPr txBox="1"/>
          <p:nvPr/>
        </p:nvSpPr>
        <p:spPr>
          <a:xfrm>
            <a:off x="4696983" y="5629461"/>
            <a:ext cx="2964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三项交互分析</a:t>
            </a:r>
            <a:endParaRPr lang="en-US" altLang="zh-CN" sz="24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82A3F3-C4E5-5E21-C20F-5E24389609AD}"/>
              </a:ext>
            </a:extLst>
          </p:cNvPr>
          <p:cNvSpPr txBox="1"/>
          <p:nvPr/>
        </p:nvSpPr>
        <p:spPr>
          <a:xfrm>
            <a:off x="8406527" y="5629461"/>
            <a:ext cx="2964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贝叶斯因子</a:t>
            </a:r>
            <a:endParaRPr lang="en-US" altLang="zh-CN" sz="24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E0D7F4F-633C-62D5-9007-22079D917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28" y="1828939"/>
            <a:ext cx="4269255" cy="398224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ED61C06-4DE8-2B3F-17CF-99597B0F4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113" y="1832911"/>
            <a:ext cx="4179173" cy="398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875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8D45D-B7FD-F425-87B1-DB790373B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Other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0F5C40FF-AF67-4958-8766-00C13AD3BD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106521"/>
              </p:ext>
            </p:extLst>
          </p:nvPr>
        </p:nvGraphicFramePr>
        <p:xfrm>
          <a:off x="1066675" y="2145225"/>
          <a:ext cx="10548327" cy="15827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1834">
                  <a:extLst>
                    <a:ext uri="{9D8B030D-6E8A-4147-A177-3AD203B41FA5}">
                      <a16:colId xmlns:a16="http://schemas.microsoft.com/office/drawing/2014/main" val="2828606520"/>
                    </a:ext>
                  </a:extLst>
                </a:gridCol>
                <a:gridCol w="1293484">
                  <a:extLst>
                    <a:ext uri="{9D8B030D-6E8A-4147-A177-3AD203B41FA5}">
                      <a16:colId xmlns:a16="http://schemas.microsoft.com/office/drawing/2014/main" val="42062043"/>
                    </a:ext>
                  </a:extLst>
                </a:gridCol>
                <a:gridCol w="1983482">
                  <a:extLst>
                    <a:ext uri="{9D8B030D-6E8A-4147-A177-3AD203B41FA5}">
                      <a16:colId xmlns:a16="http://schemas.microsoft.com/office/drawing/2014/main" val="1385390788"/>
                    </a:ext>
                  </a:extLst>
                </a:gridCol>
                <a:gridCol w="571834">
                  <a:extLst>
                    <a:ext uri="{9D8B030D-6E8A-4147-A177-3AD203B41FA5}">
                      <a16:colId xmlns:a16="http://schemas.microsoft.com/office/drawing/2014/main" val="3467354216"/>
                    </a:ext>
                  </a:extLst>
                </a:gridCol>
                <a:gridCol w="856695">
                  <a:extLst>
                    <a:ext uri="{9D8B030D-6E8A-4147-A177-3AD203B41FA5}">
                      <a16:colId xmlns:a16="http://schemas.microsoft.com/office/drawing/2014/main" val="796209030"/>
                    </a:ext>
                  </a:extLst>
                </a:gridCol>
                <a:gridCol w="742750">
                  <a:extLst>
                    <a:ext uri="{9D8B030D-6E8A-4147-A177-3AD203B41FA5}">
                      <a16:colId xmlns:a16="http://schemas.microsoft.com/office/drawing/2014/main" val="51585577"/>
                    </a:ext>
                  </a:extLst>
                </a:gridCol>
                <a:gridCol w="863026">
                  <a:extLst>
                    <a:ext uri="{9D8B030D-6E8A-4147-A177-3AD203B41FA5}">
                      <a16:colId xmlns:a16="http://schemas.microsoft.com/office/drawing/2014/main" val="1488749226"/>
                    </a:ext>
                  </a:extLst>
                </a:gridCol>
                <a:gridCol w="856695">
                  <a:extLst>
                    <a:ext uri="{9D8B030D-6E8A-4147-A177-3AD203B41FA5}">
                      <a16:colId xmlns:a16="http://schemas.microsoft.com/office/drawing/2014/main" val="4270799722"/>
                    </a:ext>
                  </a:extLst>
                </a:gridCol>
                <a:gridCol w="1124677">
                  <a:extLst>
                    <a:ext uri="{9D8B030D-6E8A-4147-A177-3AD203B41FA5}">
                      <a16:colId xmlns:a16="http://schemas.microsoft.com/office/drawing/2014/main" val="2945238172"/>
                    </a:ext>
                  </a:extLst>
                </a:gridCol>
                <a:gridCol w="1453850">
                  <a:extLst>
                    <a:ext uri="{9D8B030D-6E8A-4147-A177-3AD203B41FA5}">
                      <a16:colId xmlns:a16="http://schemas.microsoft.com/office/drawing/2014/main" val="190510170"/>
                    </a:ext>
                  </a:extLst>
                </a:gridCol>
              </a:tblGrid>
              <a:tr h="52757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Study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Model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Predictor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N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beta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t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R²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Cohen_f²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推论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64701978"/>
                  </a:ext>
                </a:extLst>
              </a:tr>
              <a:tr h="52757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交互模型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z_cert×z_amb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174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0.1789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2.282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0.0237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0.0806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0.0308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一致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159894866"/>
                  </a:ext>
                </a:extLst>
              </a:tr>
              <a:tr h="52757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effectLst/>
                        </a:rPr>
                        <a:t>交互模型</a:t>
                      </a:r>
                      <a:endParaRPr lang="zh-CN" sz="28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z_cert×z_amb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135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0.2662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3.418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&lt; .001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0.2028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0.0898</a:t>
                      </a:r>
                      <a:endParaRPr lang="zh-CN" sz="28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effectLst/>
                        </a:rPr>
                        <a:t>一致</a:t>
                      </a:r>
                      <a:endParaRPr lang="zh-CN" sz="28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635954151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51CEA0F-95AE-915E-8B84-0A80C772FCDF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、标准化回归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E4650C-EE38-54E6-B9C1-AD2DB9ECC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392" y="3727938"/>
            <a:ext cx="3137477" cy="27476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95FA57C-5544-BF5F-8ED7-8454EBD3C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586" y="3727938"/>
            <a:ext cx="3137598" cy="274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239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F65E-3091-B6EF-93C8-3694003DE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>
            <a:extLst>
              <a:ext uri="{FF2B5EF4-FFF2-40B4-BE49-F238E27FC236}">
                <a16:creationId xmlns:a16="http://schemas.microsoft.com/office/drawing/2014/main" id="{1B5F4D52-C7B9-D6A8-1273-BF3B4C5FC3CE}"/>
              </a:ext>
            </a:extLst>
          </p:cNvPr>
          <p:cNvSpPr/>
          <p:nvPr/>
        </p:nvSpPr>
        <p:spPr>
          <a:xfrm>
            <a:off x="1049537" y="1990396"/>
            <a:ext cx="10588278" cy="1610443"/>
          </a:xfrm>
          <a:prstGeom prst="roundRect">
            <a:avLst>
              <a:gd name="adj" fmla="val 1271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DC152E0-4B7C-5BFC-7BCA-99222D5E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Other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769760-E4F2-FD21-2327-7397A0824A2B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、三项交互分析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EE6601C-E360-BB2D-C373-06644296DE93}"/>
              </a:ext>
            </a:extLst>
          </p:cNvPr>
          <p:cNvSpPr/>
          <p:nvPr/>
        </p:nvSpPr>
        <p:spPr>
          <a:xfrm>
            <a:off x="1430973" y="2247949"/>
            <a:ext cx="2431319" cy="719907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好，</a:t>
            </a:r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坏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AFBDEE8-DBBF-89DE-BC3C-79720D345206}"/>
              </a:ext>
            </a:extLst>
          </p:cNvPr>
          <p:cNvSpPr/>
          <p:nvPr/>
        </p:nvSpPr>
        <p:spPr>
          <a:xfrm>
            <a:off x="4777327" y="2247948"/>
            <a:ext cx="3225771" cy="719386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j-ea"/>
                <a:ea typeface="+mj-ea"/>
              </a:rPr>
              <a:t>我对</a:t>
            </a:r>
            <a:r>
              <a:rPr lang="en-US" altLang="zh-CN" sz="2400" b="1" dirty="0">
                <a:latin typeface="+mj-ea"/>
                <a:ea typeface="+mj-ea"/>
              </a:rPr>
              <a:t>AI</a:t>
            </a:r>
            <a:r>
              <a:rPr lang="zh-CN" altLang="en-US" sz="2400" b="1" dirty="0">
                <a:latin typeface="+mj-ea"/>
                <a:ea typeface="+mj-ea"/>
              </a:rPr>
              <a:t>立场坚定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891C74D-EF2C-1730-BE47-FA08D0936DE1}"/>
              </a:ext>
            </a:extLst>
          </p:cNvPr>
          <p:cNvSpPr txBox="1"/>
          <p:nvPr/>
        </p:nvSpPr>
        <p:spPr>
          <a:xfrm>
            <a:off x="1606726" y="2967335"/>
            <a:ext cx="207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4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客观矛盾性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0E232BE-55E2-B128-880E-31F4B4EC8B99}"/>
              </a:ext>
            </a:extLst>
          </p:cNvPr>
          <p:cNvSpPr txBox="1"/>
          <p:nvPr/>
        </p:nvSpPr>
        <p:spPr>
          <a:xfrm>
            <a:off x="5350306" y="2967333"/>
            <a:ext cx="207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4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高确定性</a:t>
            </a:r>
          </a:p>
        </p:txBody>
      </p:sp>
      <p:sp>
        <p:nvSpPr>
          <p:cNvPr id="20" name="加号 19">
            <a:extLst>
              <a:ext uri="{FF2B5EF4-FFF2-40B4-BE49-F238E27FC236}">
                <a16:creationId xmlns:a16="http://schemas.microsoft.com/office/drawing/2014/main" id="{F25E9A00-8BBC-7983-B292-CC42C3DF02DF}"/>
              </a:ext>
            </a:extLst>
          </p:cNvPr>
          <p:cNvSpPr/>
          <p:nvPr/>
        </p:nvSpPr>
        <p:spPr>
          <a:xfrm>
            <a:off x="3971540" y="2247948"/>
            <a:ext cx="719386" cy="719386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等于 20">
            <a:extLst>
              <a:ext uri="{FF2B5EF4-FFF2-40B4-BE49-F238E27FC236}">
                <a16:creationId xmlns:a16="http://schemas.microsoft.com/office/drawing/2014/main" id="{E38DC4DE-0E75-D39C-331A-6FDD73D67CB6}"/>
              </a:ext>
            </a:extLst>
          </p:cNvPr>
          <p:cNvSpPr/>
          <p:nvPr/>
        </p:nvSpPr>
        <p:spPr>
          <a:xfrm>
            <a:off x="8166293" y="2247948"/>
            <a:ext cx="733164" cy="719386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0322B5-5878-BAEC-CA08-61B59177084D}"/>
              </a:ext>
            </a:extLst>
          </p:cNvPr>
          <p:cNvSpPr txBox="1"/>
          <p:nvPr/>
        </p:nvSpPr>
        <p:spPr>
          <a:xfrm>
            <a:off x="9062652" y="2355522"/>
            <a:ext cx="20798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态度不稳定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4E35D32-32A3-0405-830B-D440F7E11B69}"/>
              </a:ext>
            </a:extLst>
          </p:cNvPr>
          <p:cNvSpPr txBox="1"/>
          <p:nvPr/>
        </p:nvSpPr>
        <p:spPr>
          <a:xfrm>
            <a:off x="8302227" y="2916961"/>
            <a:ext cx="36262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取两次态度差值</a:t>
            </a:r>
            <a:r>
              <a:rPr lang="zh-CN" altLang="en-US" sz="2400" b="1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绝对值</a:t>
            </a:r>
            <a:endParaRPr lang="en-US" altLang="zh-CN" sz="2400" b="1" i="0" dirty="0">
              <a:effectLst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339DD99-F257-16A3-10A4-0586AA0390DA}"/>
              </a:ext>
            </a:extLst>
          </p:cNvPr>
          <p:cNvSpPr txBox="1"/>
          <p:nvPr/>
        </p:nvSpPr>
        <p:spPr>
          <a:xfrm>
            <a:off x="900701" y="4172267"/>
            <a:ext cx="2961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AttT2 ~ T1 * Cert * </a:t>
            </a:r>
            <a:r>
              <a:rPr lang="en-US" altLang="zh-CN" b="0" i="0" u="none" strike="noStrike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2DEEBA6-9DB5-7B72-9BD3-E3825E5344B1}"/>
              </a:ext>
            </a:extLst>
          </p:cNvPr>
          <p:cNvSpPr txBox="1"/>
          <p:nvPr/>
        </p:nvSpPr>
        <p:spPr>
          <a:xfrm>
            <a:off x="9285579" y="4148386"/>
            <a:ext cx="2528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 ~ Cert 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0" i="0" u="none" strike="noStrike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9B34E29-11E7-CAA1-6FED-33B568D393A5}"/>
              </a:ext>
            </a:extLst>
          </p:cNvPr>
          <p:cNvSpPr txBox="1"/>
          <p:nvPr/>
        </p:nvSpPr>
        <p:spPr>
          <a:xfrm>
            <a:off x="9535714" y="4786414"/>
            <a:ext cx="1732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+mj-ea"/>
                <a:ea typeface="+mj-ea"/>
              </a:rPr>
              <a:t>绝对波动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977150D-C14E-09EA-2E5E-34D86333AA61}"/>
              </a:ext>
            </a:extLst>
          </p:cNvPr>
          <p:cNvSpPr txBox="1"/>
          <p:nvPr/>
        </p:nvSpPr>
        <p:spPr>
          <a:xfrm>
            <a:off x="5235430" y="4779496"/>
            <a:ext cx="1732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b="1" dirty="0">
                <a:latin typeface="+mj-ea"/>
                <a:ea typeface="+mj-ea"/>
              </a:rPr>
              <a:t>方向漂移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D5B1F90-061E-EF95-94CC-950B358155CD}"/>
              </a:ext>
            </a:extLst>
          </p:cNvPr>
          <p:cNvSpPr txBox="1"/>
          <p:nvPr/>
        </p:nvSpPr>
        <p:spPr>
          <a:xfrm>
            <a:off x="4241408" y="4172267"/>
            <a:ext cx="3904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Attitude ~ Time * Cert * </a:t>
            </a:r>
            <a:r>
              <a:rPr lang="en-US" altLang="zh-CN" b="0" i="0" u="none" strike="noStrike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(1 | ID)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446B06F-8711-D2C4-4991-E25DA6AA078B}"/>
              </a:ext>
            </a:extLst>
          </p:cNvPr>
          <p:cNvSpPr txBox="1"/>
          <p:nvPr/>
        </p:nvSpPr>
        <p:spPr>
          <a:xfrm>
            <a:off x="4504452" y="5478953"/>
            <a:ext cx="31884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确定性和矛盾性让态度随时间朝向某一极发生了系统性漂移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D1E9280-64CB-286B-B733-961186ABC3F8}"/>
              </a:ext>
            </a:extLst>
          </p:cNvPr>
          <p:cNvSpPr txBox="1"/>
          <p:nvPr/>
        </p:nvSpPr>
        <p:spPr>
          <a:xfrm>
            <a:off x="8989518" y="5482360"/>
            <a:ext cx="26482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确定性和矛盾性让态度在绝对值上摇摆更大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3EABD86-942F-6CB4-0DD2-CE3DA8002545}"/>
              </a:ext>
            </a:extLst>
          </p:cNvPr>
          <p:cNvSpPr txBox="1"/>
          <p:nvPr/>
        </p:nvSpPr>
        <p:spPr>
          <a:xfrm>
            <a:off x="7315242" y="4632525"/>
            <a:ext cx="20798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sz="4800" b="1" i="0" dirty="0">
                <a:solidFill>
                  <a:srgbClr val="53AE6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VS</a:t>
            </a:r>
            <a:endParaRPr lang="zh-CN" altLang="en-US" sz="4800" b="1" i="0" dirty="0">
              <a:solidFill>
                <a:srgbClr val="53AE6E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7F87C41-A343-FC40-F37E-43DA05D7D5E9}"/>
              </a:ext>
            </a:extLst>
          </p:cNvPr>
          <p:cNvSpPr txBox="1"/>
          <p:nvPr/>
        </p:nvSpPr>
        <p:spPr>
          <a:xfrm>
            <a:off x="3343456" y="4636489"/>
            <a:ext cx="20798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CN" sz="4800" b="1" i="0" dirty="0">
                <a:solidFill>
                  <a:srgbClr val="53AE6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VS</a:t>
            </a:r>
            <a:endParaRPr lang="zh-CN" altLang="en-US" sz="4800" b="1" i="0" dirty="0">
              <a:solidFill>
                <a:srgbClr val="53AE6E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34C523B-4445-87B8-9EA7-4C8115BBBFF0}"/>
              </a:ext>
            </a:extLst>
          </p:cNvPr>
          <p:cNvSpPr txBox="1"/>
          <p:nvPr/>
        </p:nvSpPr>
        <p:spPr>
          <a:xfrm>
            <a:off x="1388744" y="4779160"/>
            <a:ext cx="1732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b="1" dirty="0">
                <a:latin typeface="+mj-ea"/>
                <a:ea typeface="+mj-ea"/>
              </a:rPr>
              <a:t>预测斜率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8503BD8-C30A-98D5-164D-92540752A2F3}"/>
              </a:ext>
            </a:extLst>
          </p:cNvPr>
          <p:cNvSpPr txBox="1"/>
          <p:nvPr/>
        </p:nvSpPr>
        <p:spPr>
          <a:xfrm>
            <a:off x="946456" y="5478952"/>
            <a:ext cx="28700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检验确定性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×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矛盾性是否改变 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T1 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对 </a:t>
            </a:r>
            <a:r>
              <a:rPr lang="en-US" altLang="zh-CN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T2 </a:t>
            </a:r>
            <a:r>
              <a:rPr lang="zh-CN" alt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的预测斜率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994029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1CC04-A818-A217-2F8D-CC884C0A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EEBA4-4E5A-F577-7522-D1DA847C2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Other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E72C4E-CC67-D1A1-76EE-E35777A9E57E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、三项交互分析</a:t>
            </a:r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F6398DC9-DB8F-AFAE-AB6B-D85791639A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51678" y="2178050"/>
          <a:ext cx="10179048" cy="1600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2381">
                  <a:extLst>
                    <a:ext uri="{9D8B030D-6E8A-4147-A177-3AD203B41FA5}">
                      <a16:colId xmlns:a16="http://schemas.microsoft.com/office/drawing/2014/main" val="759850954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2475747541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3092536259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193903398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791238021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2213699521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3660607950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784853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Ambivalence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threeway_B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600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6026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(ObjAmb)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0.0078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0.0222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0.353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0.7247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0.6283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359147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(SubAmb)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-0.0046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0.0299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-0.154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0.8777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0.6301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736810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(ObjAmb)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-0.0461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0.0218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-2.115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0.0364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0.6271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46503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SubAmb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-0.0225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0.0277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-0.812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0.4183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0.6027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725322938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5FB02A98-198A-89E9-B4F6-7B997FEBA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15" y="3093933"/>
            <a:ext cx="11031302" cy="3706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04A2822-04BC-0FA4-4E5B-C2655A587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496" y="3893473"/>
            <a:ext cx="3146965" cy="258214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A4778E3-2479-768A-64EA-192B2BC5E1D2}"/>
              </a:ext>
            </a:extLst>
          </p:cNvPr>
          <p:cNvSpPr txBox="1"/>
          <p:nvPr/>
        </p:nvSpPr>
        <p:spPr>
          <a:xfrm>
            <a:off x="5015345" y="452897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然而三项交互模型含乘积的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VIF </a:t>
            </a:r>
            <a:r>
              <a:rPr lang="zh-CN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极高（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&gt;100</a:t>
            </a:r>
            <a:r>
              <a:rPr lang="zh-CN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），且进一步采用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 Bootstrap </a:t>
            </a:r>
            <a:r>
              <a:rPr lang="zh-CN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重抽样（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5,000 </a:t>
            </a:r>
            <a:r>
              <a:rPr lang="zh-CN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次）对三项交互系数进行非参数推断。结果显示，客观矛盾三项交互的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 95% Bootstrap </a:t>
            </a:r>
            <a:r>
              <a:rPr lang="zh-CN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百分位置信区间包含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0</a:t>
            </a:r>
            <a:r>
              <a:rPr lang="zh-CN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（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[-0.086, 0.003]</a:t>
            </a:r>
            <a:r>
              <a:rPr lang="zh-CN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），因而应当审慎解读结果。</a:t>
            </a:r>
            <a:r>
              <a:rPr lang="zh-CN" altLang="zh-CN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442235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5248A-068F-EE32-12DD-02A6189F9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CC6607-27DD-3924-4218-4715D9C90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Other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A11B57-52DA-333E-F65F-54355D90ED99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、三项交互分析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798AE901-CB28-0F6B-BF05-3CFAD7020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5293219"/>
              </p:ext>
            </p:extLst>
          </p:nvPr>
        </p:nvGraphicFramePr>
        <p:xfrm>
          <a:off x="757734" y="4067695"/>
          <a:ext cx="5093702" cy="2164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7606">
                  <a:extLst>
                    <a:ext uri="{9D8B030D-6E8A-4147-A177-3AD203B41FA5}">
                      <a16:colId xmlns:a16="http://schemas.microsoft.com/office/drawing/2014/main" val="3886596651"/>
                    </a:ext>
                  </a:extLst>
                </a:gridCol>
                <a:gridCol w="938259">
                  <a:extLst>
                    <a:ext uri="{9D8B030D-6E8A-4147-A177-3AD203B41FA5}">
                      <a16:colId xmlns:a16="http://schemas.microsoft.com/office/drawing/2014/main" val="2359981762"/>
                    </a:ext>
                  </a:extLst>
                </a:gridCol>
                <a:gridCol w="939279">
                  <a:extLst>
                    <a:ext uri="{9D8B030D-6E8A-4147-A177-3AD203B41FA5}">
                      <a16:colId xmlns:a16="http://schemas.microsoft.com/office/drawing/2014/main" val="1373782292"/>
                    </a:ext>
                  </a:extLst>
                </a:gridCol>
                <a:gridCol w="939279">
                  <a:extLst>
                    <a:ext uri="{9D8B030D-6E8A-4147-A177-3AD203B41FA5}">
                      <a16:colId xmlns:a16="http://schemas.microsoft.com/office/drawing/2014/main" val="1835255629"/>
                    </a:ext>
                  </a:extLst>
                </a:gridCol>
                <a:gridCol w="939279">
                  <a:extLst>
                    <a:ext uri="{9D8B030D-6E8A-4147-A177-3AD203B41FA5}">
                      <a16:colId xmlns:a16="http://schemas.microsoft.com/office/drawing/2014/main" val="1010062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33045" algn="ctr">
                        <a:spcAft>
                          <a:spcPts val="600"/>
                        </a:spcAft>
                      </a:pPr>
                      <a:r>
                        <a:rPr lang="zh-C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效应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33045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33045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33045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770728524"/>
                  </a:ext>
                </a:extLst>
              </a:tr>
              <a:tr h="108585"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0.1356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0.0469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2.892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94007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Time×Cert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0.0297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0.0311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0.953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21462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Time×Amb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0.0766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0.0255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3.008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0.003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909498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Cert×Amb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0.0149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0.0166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0.370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97660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Time×Cert×Amb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0.0128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0.0161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0.797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0.426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268996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EFEB091-9E63-E690-08AB-9C9AEFF9B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099157"/>
              </p:ext>
            </p:extLst>
          </p:nvPr>
        </p:nvGraphicFramePr>
        <p:xfrm>
          <a:off x="6484155" y="4067695"/>
          <a:ext cx="5361481" cy="2164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1372">
                  <a:extLst>
                    <a:ext uri="{9D8B030D-6E8A-4147-A177-3AD203B41FA5}">
                      <a16:colId xmlns:a16="http://schemas.microsoft.com/office/drawing/2014/main" val="525859244"/>
                    </a:ext>
                  </a:extLst>
                </a:gridCol>
                <a:gridCol w="1220885">
                  <a:extLst>
                    <a:ext uri="{9D8B030D-6E8A-4147-A177-3AD203B41FA5}">
                      <a16:colId xmlns:a16="http://schemas.microsoft.com/office/drawing/2014/main" val="2050307257"/>
                    </a:ext>
                  </a:extLst>
                </a:gridCol>
                <a:gridCol w="922360">
                  <a:extLst>
                    <a:ext uri="{9D8B030D-6E8A-4147-A177-3AD203B41FA5}">
                      <a16:colId xmlns:a16="http://schemas.microsoft.com/office/drawing/2014/main" val="1809766870"/>
                    </a:ext>
                  </a:extLst>
                </a:gridCol>
                <a:gridCol w="924504">
                  <a:extLst>
                    <a:ext uri="{9D8B030D-6E8A-4147-A177-3AD203B41FA5}">
                      <a16:colId xmlns:a16="http://schemas.microsoft.com/office/drawing/2014/main" val="329958412"/>
                    </a:ext>
                  </a:extLst>
                </a:gridCol>
                <a:gridCol w="922360">
                  <a:extLst>
                    <a:ext uri="{9D8B030D-6E8A-4147-A177-3AD203B41FA5}">
                      <a16:colId xmlns:a16="http://schemas.microsoft.com/office/drawing/2014/main" val="3456428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33045" algn="ctr">
                        <a:spcAft>
                          <a:spcPts val="600"/>
                        </a:spcAft>
                      </a:pPr>
                      <a:r>
                        <a:rPr lang="zh-C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效应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33045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33045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33045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33045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699089111"/>
                  </a:ext>
                </a:extLst>
              </a:tr>
              <a:tr h="108585"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0.0276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0.0051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5.384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&lt;.001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82446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Time×Cert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-0.0045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0.0038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-1.182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0.237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399685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Time×Amb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-0.0085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0.0029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-2.912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829476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Cert×Amb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0.0879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0.0225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3.905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&lt;.001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899753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Time×Cert×Amb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-0.0021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0.0019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-1.085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0.278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389045328"/>
                  </a:ext>
                </a:extLst>
              </a:tr>
            </a:tbl>
          </a:graphicData>
        </a:graphic>
      </p:graphicFrame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C42A0BFF-3466-97EE-E9B4-99305C2F026E}"/>
              </a:ext>
            </a:extLst>
          </p:cNvPr>
          <p:cNvCxnSpPr>
            <a:cxnSpLocks/>
          </p:cNvCxnSpPr>
          <p:nvPr/>
        </p:nvCxnSpPr>
        <p:spPr>
          <a:xfrm>
            <a:off x="6157502" y="1902267"/>
            <a:ext cx="0" cy="4553951"/>
          </a:xfrm>
          <a:prstGeom prst="line">
            <a:avLst/>
          </a:prstGeom>
          <a:ln w="571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82BD564-F541-4A97-B845-3E4AB1DC96B6}"/>
              </a:ext>
            </a:extLst>
          </p:cNvPr>
          <p:cNvSpPr txBox="1"/>
          <p:nvPr/>
        </p:nvSpPr>
        <p:spPr>
          <a:xfrm>
            <a:off x="6538619" y="2043165"/>
            <a:ext cx="52525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在两两交互模型中，时间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 × 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矛盾性的交互效应显著（</a:t>
            </a:r>
            <a:r>
              <a:rPr lang="en-US" altLang="zh-CN" sz="1800" i="1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B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 = -0.009, </a:t>
            </a:r>
            <a:r>
              <a:rPr lang="en-US" altLang="zh-CN" sz="1800" i="1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t 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= -2.912, </a:t>
            </a:r>
            <a:r>
              <a:rPr lang="en-US" altLang="zh-CN" sz="1800" i="1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p </a:t>
            </a:r>
            <a:r>
              <a:rPr lang="en-US" altLang="zh-CN" i="1" dirty="0">
                <a:ea typeface="微软雅黑" panose="020B0503020204020204" pitchFamily="34" charset="-122"/>
                <a:cs typeface="宋体" panose="02010600030101010101" pitchFamily="2" charset="-122"/>
              </a:rPr>
              <a:t>=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 .004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），</a:t>
            </a:r>
            <a:r>
              <a:rPr lang="zh-CN" altLang="zh-CN" sz="1800" b="1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表明矛盾性越高的个体，其态度随时间的下降趋势越明显。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确定性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 × 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矛盾性的交互效应亦高度显著（</a:t>
            </a:r>
            <a:r>
              <a:rPr lang="en-US" altLang="zh-CN" sz="1800" i="1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B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 = 0.088, </a:t>
            </a:r>
            <a:r>
              <a:rPr lang="en-US" altLang="zh-CN" sz="1800" i="1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t 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= 3.905, </a:t>
            </a:r>
            <a:r>
              <a:rPr lang="en-US" altLang="zh-CN" sz="1800" i="1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p 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&lt; .001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），提示在个体间水平上，确定性与矛盾性的协同效应不可忽视。</a:t>
            </a:r>
            <a:r>
              <a:rPr lang="zh-CN" altLang="zh-CN" dirty="0">
                <a:effectLst/>
                <a:ea typeface="微软雅黑" panose="020B0503020204020204" pitchFamily="34" charset="-122"/>
              </a:rPr>
              <a:t> 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F59497-8E60-01E8-7CA1-B673198DC3BD}"/>
              </a:ext>
            </a:extLst>
          </p:cNvPr>
          <p:cNvSpPr txBox="1"/>
          <p:nvPr/>
        </p:nvSpPr>
        <p:spPr>
          <a:xfrm>
            <a:off x="985826" y="2043165"/>
            <a:ext cx="48656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在两两交互模型中，时间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 × 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矛盾性的交互效应显著（</a:t>
            </a:r>
            <a:r>
              <a:rPr lang="en-US" altLang="zh-CN" sz="1800" i="1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B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 = 0.077, </a:t>
            </a:r>
            <a:r>
              <a:rPr lang="en-US" altLang="zh-CN" sz="1800" i="1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t 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= 3.008, </a:t>
            </a:r>
            <a:r>
              <a:rPr lang="en-US" altLang="zh-CN" sz="1800" i="1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p 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= .003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），简单斜率显示，在低矛盾性条件下时间斜率近乎为零，而在高矛盾性条件下时间斜率明显为正</a:t>
            </a:r>
            <a:r>
              <a:rPr lang="zh-CN" altLang="zh-CN" dirty="0"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r>
              <a:rPr lang="zh-CN" altLang="zh-CN" b="1" dirty="0">
                <a:ea typeface="微软雅黑" panose="020B0503020204020204" pitchFamily="34" charset="-122"/>
                <a:cs typeface="宋体" panose="02010600030101010101" pitchFamily="2" charset="-122"/>
              </a:rPr>
              <a:t>表明矛盾性越高的个体，其态度随时间的</a:t>
            </a:r>
            <a:r>
              <a:rPr lang="zh-CN" altLang="en-US" b="1" dirty="0">
                <a:ea typeface="微软雅黑" panose="020B0503020204020204" pitchFamily="34" charset="-122"/>
                <a:cs typeface="宋体" panose="02010600030101010101" pitchFamily="2" charset="-122"/>
              </a:rPr>
              <a:t>上升</a:t>
            </a:r>
            <a:r>
              <a:rPr lang="zh-CN" altLang="zh-CN" b="1" dirty="0">
                <a:ea typeface="微软雅黑" panose="020B0503020204020204" pitchFamily="34" charset="-122"/>
                <a:cs typeface="宋体" panose="02010600030101010101" pitchFamily="2" charset="-122"/>
              </a:rPr>
              <a:t>趋势越明显。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7702085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889C3-C717-DB61-836C-8EFBBD2F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5C0C1-38F5-E6CC-E067-7C5F1DC5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Other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</a:rPr>
              <a:t>Replication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3A54F5-4284-ADB9-F6DF-095645D8AA7C}"/>
              </a:ext>
            </a:extLst>
          </p:cNvPr>
          <p:cNvSpPr txBox="1"/>
          <p:nvPr/>
        </p:nvSpPr>
        <p:spPr>
          <a:xfrm>
            <a:off x="1015194" y="1379047"/>
            <a:ext cx="457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sz="2800" b="1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、贝叶斯因子</a:t>
            </a:r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B1D3EBF2-81F4-5139-A522-2980526954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5948704"/>
              </p:ext>
            </p:extLst>
          </p:nvPr>
        </p:nvGraphicFramePr>
        <p:xfrm>
          <a:off x="1251678" y="2143637"/>
          <a:ext cx="10179048" cy="1935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2381">
                  <a:extLst>
                    <a:ext uri="{9D8B030D-6E8A-4147-A177-3AD203B41FA5}">
                      <a16:colId xmlns:a16="http://schemas.microsoft.com/office/drawing/2014/main" val="171415614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2025340667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953507171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2741044124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3399278635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3043061567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4275823865"/>
                    </a:ext>
                  </a:extLst>
                </a:gridCol>
                <a:gridCol w="1272381">
                  <a:extLst>
                    <a:ext uri="{9D8B030D-6E8A-4147-A177-3AD203B41FA5}">
                      <a16:colId xmlns:a16="http://schemas.microsoft.com/office/drawing/2014/main" val="42545747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BF10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Post_M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HDI_Lower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HDI_Upper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推论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657548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有机食品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3.061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0.0328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0.0024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0.063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强证据支持交互模型，一致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043865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酒精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46.168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0.0674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0.0261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0.1088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极强证据支持交互模型，一致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94306901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EFB19A6-B2C2-4007-5A89-A14A436656C5}"/>
              </a:ext>
            </a:extLst>
          </p:cNvPr>
          <p:cNvSpPr txBox="1"/>
          <p:nvPr/>
        </p:nvSpPr>
        <p:spPr>
          <a:xfrm>
            <a:off x="1251678" y="4320487"/>
            <a:ext cx="101783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模型比较在交互模型（含 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amb:cert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）与主效应模型（仅含 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 + 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amb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+ cert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）之间展开，采用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JZS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先验（默认 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rscale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= 0.50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贝叶斯分析在两个研究中均一致支持确定性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矛盾性交互效应的存在，且效应方向均为正（即确定性与矛盾性协同促进态度改变）。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研究二的证据强度（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BF₁₀ = 46.17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）远超研究一（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BF₁₀ = 3.06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），这可能与酒精态度样本中交互效应量更大（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f² = 0.09 vs. 0.03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）以及时间跨度更长有关。 </a:t>
            </a:r>
          </a:p>
        </p:txBody>
      </p:sp>
    </p:spTree>
    <p:extLst>
      <p:ext uri="{BB962C8B-B14F-4D97-AF65-F5344CB8AC3E}">
        <p14:creationId xmlns:p14="http://schemas.microsoft.com/office/powerpoint/2010/main" val="120596396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3D48C-F73E-09C1-CC30-F3C11EAD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discussion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185633-EEED-0EF5-1C4D-35B3F3C40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41929"/>
            <a:ext cx="10178322" cy="4624955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原研究的核心发现得到了成功复现：态度客观矛盾性与确定性的交互作用确实能够预测态度稳定性，贝叶斯分析的结果进一步支持了原研究的结论。</a:t>
            </a:r>
            <a:endParaRPr kumimoji="1" lang="en-US" altLang="zh-CN" sz="2400" dirty="0"/>
          </a:p>
          <a:p>
            <a:r>
              <a:rPr kumimoji="1" lang="zh-CN" altLang="en-US" sz="2400" dirty="0"/>
              <a:t>三项分析的不显著，反映出无法将原效应推广到属性交互是否改变 </a:t>
            </a:r>
            <a:r>
              <a:rPr kumimoji="1" lang="en-US" altLang="zh-CN" sz="2400" dirty="0"/>
              <a:t>T1→T2 </a:t>
            </a:r>
            <a:r>
              <a:rPr kumimoji="1" lang="zh-CN" altLang="en-US" sz="2400" dirty="0"/>
              <a:t>的预测斜率中，与过往复现结果相符，进一步区分态度稳定性的波动幅度与预测斜率。</a:t>
            </a:r>
            <a:endParaRPr kumimoji="1" lang="en-US" altLang="zh-CN" sz="2400" dirty="0"/>
          </a:p>
          <a:p>
            <a:r>
              <a:rPr kumimoji="1" lang="zh-CN" altLang="en-US" sz="2400" dirty="0"/>
              <a:t>线性混合模型的结果显现出态度稳定的方向性差异，可能源于态度本身话题属性。比如有机食品在社会期待下更易获得正面强化，而酒精态度受健康警示影响更易向负面漂移。 </a:t>
            </a:r>
          </a:p>
        </p:txBody>
      </p:sp>
    </p:spTree>
    <p:extLst>
      <p:ext uri="{BB962C8B-B14F-4D97-AF65-F5344CB8AC3E}">
        <p14:creationId xmlns:p14="http://schemas.microsoft.com/office/powerpoint/2010/main" val="4226471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7A7957E-EF80-7EE7-D4A9-12DB7FA73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D1A473AD-6D84-7B73-DA25-439CBE8C7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779048"/>
      </p:ext>
    </p:extLst>
  </p:cSld>
  <p:clrMapOvr>
    <a:masterClrMapping/>
  </p:clrMapOvr>
</p:sld>
</file>

<file path=ppt/theme/theme1.xml><?xml version="1.0" encoding="utf-8"?>
<a:theme xmlns:a="http://schemas.openxmlformats.org/drawingml/2006/main" name="徽章">
  <a:themeElements>
    <a:clrScheme name="徽章">
      <a:dk1>
        <a:sysClr val="windowText" lastClr="000000"/>
      </a:dk1>
      <a:lt1>
        <a:sysClr val="window" lastClr="FFFFFF"/>
      </a:lt1>
      <a:dk2>
        <a:srgbClr val="171312"/>
      </a:dk2>
      <a:lt2>
        <a:srgbClr val="F7F0DF"/>
      </a:lt2>
      <a:accent1>
        <a:srgbClr val="53AE6E"/>
      </a:accent1>
      <a:accent2>
        <a:srgbClr val="326267"/>
      </a:accent2>
      <a:accent3>
        <a:srgbClr val="C5C34A"/>
      </a:accent3>
      <a:accent4>
        <a:srgbClr val="BF6546"/>
      </a:accent4>
      <a:accent5>
        <a:srgbClr val="81B5A8"/>
      </a:accent5>
      <a:accent6>
        <a:srgbClr val="636455"/>
      </a:accent6>
      <a:hlink>
        <a:srgbClr val="81B5A8"/>
      </a:hlink>
      <a:folHlink>
        <a:srgbClr val="93688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徽章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17368</TotalTime>
  <Words>3792</Words>
  <Application>Microsoft Macintosh PowerPoint</Application>
  <PresentationFormat>宽屏</PresentationFormat>
  <Paragraphs>1118</Paragraphs>
  <Slides>30</Slides>
  <Notes>21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等线</vt:lpstr>
      <vt:lpstr>宋体</vt:lpstr>
      <vt:lpstr>Microsoft YaHei</vt:lpstr>
      <vt:lpstr>Microsoft YaHei</vt:lpstr>
      <vt:lpstr>quote-cjk-patch</vt:lpstr>
      <vt:lpstr>Arial</vt:lpstr>
      <vt:lpstr>Arial Black</vt:lpstr>
      <vt:lpstr>Gill Sans MT</vt:lpstr>
      <vt:lpstr>Times New Roman</vt:lpstr>
      <vt:lpstr>Wingdings</vt:lpstr>
      <vt:lpstr>徽章</vt:lpstr>
      <vt:lpstr>对Luttrell JeSP_2016_rjb 可重复性研究</vt:lpstr>
      <vt:lpstr>Introduction</vt:lpstr>
      <vt:lpstr>Introduction</vt:lpstr>
      <vt:lpstr>Introduction</vt:lpstr>
      <vt:lpstr>Methods</vt:lpstr>
      <vt:lpstr>Introduction</vt:lpstr>
      <vt:lpstr>results</vt:lpstr>
      <vt:lpstr>Replication</vt:lpstr>
      <vt:lpstr>Replication</vt:lpstr>
      <vt:lpstr>Replication</vt:lpstr>
      <vt:lpstr>Replication</vt:lpstr>
      <vt:lpstr>Replication</vt:lpstr>
      <vt:lpstr>Replication</vt:lpstr>
      <vt:lpstr>Replication</vt:lpstr>
      <vt:lpstr>Replication</vt:lpstr>
      <vt:lpstr>Replication</vt:lpstr>
      <vt:lpstr>Replication</vt:lpstr>
      <vt:lpstr>Replication</vt:lpstr>
      <vt:lpstr>Replication</vt:lpstr>
      <vt:lpstr>Replication</vt:lpstr>
      <vt:lpstr>Other Replication</vt:lpstr>
      <vt:lpstr>Other Replication</vt:lpstr>
      <vt:lpstr>Other Replication</vt:lpstr>
      <vt:lpstr>Other Replication</vt:lpstr>
      <vt:lpstr>Other Replication</vt:lpstr>
      <vt:lpstr>Other Replication</vt:lpstr>
      <vt:lpstr>Other Replication</vt:lpstr>
      <vt:lpstr>Other Replication</vt:lpstr>
      <vt:lpstr>discussion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z</dc:creator>
  <cp:lastModifiedBy>le z</cp:lastModifiedBy>
  <cp:revision>17</cp:revision>
  <dcterms:created xsi:type="dcterms:W3CDTF">2026-06-15T05:02:58Z</dcterms:created>
  <dcterms:modified xsi:type="dcterms:W3CDTF">2026-07-02T10:28:43Z</dcterms:modified>
</cp:coreProperties>
</file>